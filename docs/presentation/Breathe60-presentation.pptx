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Breathe 60, a coursework prototype for one skill: paced breathing, 4 seconds in and 6 out. It's not a support service, nobody monitors it, and it never diagnoses. It says so on the home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fictional user is Alex. Everything in the demo uses made-up data. Point at the prototype line at the bottom of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Press Start. Let two breaths run. "The orb carries the pace, so Alex doesn't have to read. Six breaths is 60 seconds; the app measured 60.0 seconds for a full run." Then open Support, Resume, and press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code as you point: R1 timing, R2 and D4 support, R3 stop, D2 and D3 one action and low effort, D6 tone, R4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"Support is in the top bar on every screen, including inside the exercise. That's R2 and D4. It's static, so it works even if the AI or the backend is down. And it pauses the exercise." Show the numbers, then Resume.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Press Stop. "Stop works at any moment, with no 'are you sure', no streak, no penalty. That's R3, permission to stop." Point at "Stopped after N breaths. That is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Home, tap Overwhelmed: the screen shows less. Tap Show everything. Tap Change, pick A bit tense: the length is set to 6 with "Use 8 instead". Say: the study (D1) doesn't say how to detect distress, and the class reading found clicks don't match anxiety, so the app only uses what Alex tells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History: the profile card shows sessions, finished, stopped (that's fine), your usual, and recent check-ins. Go back Home and point at the "Your usual" pill.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intro card: written live by the model from the check-in and the usual. In History, ask "How many sessions have I done, and what is my usual?" and open "How this was answered" to show the read-only query. If the model is slow, switch Demo controls to Mock.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the crisis phrase in History to show Support opening. If the live model is slow, switch Demo controls to Mock and say so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Likely questions: How do you know distress? (I don't, on purpose.) What if the AI goes down? (Switch Demo controls to Fail.) Why one skill? (D2 had 100 mentions.) Why 4 and 6? (The skill as 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26534" r="26534" t="0" b="0"/>
          <a:stretch/>
        </p:blipFill>
        <p:spPr>
          <a:xfrm>
            <a:off x="7315017" y="0"/>
            <a:ext cx="4876678" cy="6858000"/>
          </a:xfrm>
          <a:prstGeom prst="rect">
            <a:avLst/>
          </a:prstGeom>
        </p:spPr>
      </p:pic>
      <p:sp>
        <p:nvSpPr>
          <p:cNvPr id="3" name="Text 0"/>
          <p:cNvSpPr/>
          <p:nvPr/>
        </p:nvSpPr>
        <p:spPr>
          <a:xfrm>
            <a:off x="514350" y="514350"/>
            <a:ext cx="6286317" cy="612902"/>
          </a:xfrm>
          <a:prstGeom prst="rect">
            <a:avLst/>
          </a:prstGeom>
          <a:noFill/>
          <a:ln/>
        </p:spPr>
        <p:txBody>
          <a:bodyPr wrap="square" lIns="0" tIns="0" rIns="0" bIns="0" rtlCol="0" anchor="t">
            <a:normAutofit/>
          </a:bodyPr>
          <a:lstStyle/>
          <a:p>
            <a:pPr algn="l" indent="0" marL="0">
              <a:buNone/>
            </a:pPr>
            <a:r>
              <a:rPr lang="en-US" sz="3400" b="1" dirty="0">
                <a:solidFill>
                  <a:srgbClr val="0B3A57"/>
                </a:solidFill>
                <a:latin typeface="Source Serif 4" pitchFamily="34" charset="0"/>
                <a:ea typeface="Source Serif 4" pitchFamily="34" charset="-122"/>
                <a:cs typeface="Source Serif 4" pitchFamily="34" charset="-120"/>
              </a:rPr>
              <a:t>Breathe 60</a:t>
            </a:r>
            <a:endParaRPr lang="en-US" sz="3400" dirty="0"/>
          </a:p>
        </p:txBody>
      </p:sp>
      <p:sp>
        <p:nvSpPr>
          <p:cNvPr id="4" name="Text 1"/>
          <p:cNvSpPr/>
          <p:nvPr/>
        </p:nvSpPr>
        <p:spPr>
          <a:xfrm>
            <a:off x="514350" y="1236980"/>
            <a:ext cx="6286317" cy="390652"/>
          </a:xfrm>
          <a:prstGeom prst="rect">
            <a:avLst/>
          </a:prstGeom>
          <a:noFill/>
          <a:ln/>
        </p:spPr>
        <p:txBody>
          <a:bodyPr wrap="square" lIns="0" tIns="0" rIns="0" bIns="0" rtlCol="0" anchor="t">
            <a:normAutofit/>
          </a:bodyPr>
          <a:lstStyle/>
          <a:p>
            <a:pPr algn="l" indent="0" marL="0">
              <a:buNone/>
            </a:pPr>
            <a:r>
              <a:rPr lang="en-US" sz="2000" b="1" dirty="0">
                <a:solidFill>
                  <a:srgbClr val="0B3A57"/>
                </a:solidFill>
                <a:latin typeface="Source Serif 4" pitchFamily="34" charset="0"/>
                <a:ea typeface="Source Serif 4" pitchFamily="34" charset="-122"/>
                <a:cs typeface="Source Serif 4" pitchFamily="34" charset="-120"/>
              </a:rPr>
              <a:t>A calm minute, one skill at a time</a:t>
            </a:r>
            <a:endParaRPr lang="en-US" sz="2000" dirty="0"/>
          </a:p>
        </p:txBody>
      </p:sp>
      <p:sp>
        <p:nvSpPr>
          <p:cNvPr id="5" name="Text 2"/>
          <p:cNvSpPr/>
          <p:nvPr/>
        </p:nvSpPr>
        <p:spPr>
          <a:xfrm>
            <a:off x="514350" y="1737360"/>
            <a:ext cx="6286317" cy="549402"/>
          </a:xfrm>
          <a:prstGeom prst="rect">
            <a:avLst/>
          </a:prstGeom>
          <a:noFill/>
          <a:ln/>
        </p:spPr>
        <p:txBody>
          <a:bodyPr wrap="square" lIns="0" tIns="0" rIns="0" bIns="0" rtlCol="0" anchor="t">
            <a:normAutofit/>
          </a:bodyPr>
          <a:lstStyle/>
          <a:p>
            <a:pPr algn="l" indent="0" marL="0">
              <a:buNone/>
            </a:pPr>
            <a:r>
              <a:rPr lang="en-US" sz="1500" dirty="0">
                <a:solidFill>
                  <a:srgbClr val="34495A"/>
                </a:solidFill>
                <a:latin typeface="Inter" pitchFamily="34" charset="0"/>
                <a:ea typeface="Inter" pitchFamily="34" charset="-122"/>
                <a:cs typeface="Inter" pitchFamily="34" charset="-120"/>
              </a:rPr>
              <a:t>A coursework prototype for paced breathing: 4 seconds in, 6 seconds out.</a:t>
            </a:r>
            <a:endParaRPr lang="en-US" sz="1500" dirty="0"/>
          </a:p>
        </p:txBody>
      </p:sp>
      <p:sp>
        <p:nvSpPr>
          <p:cNvPr id="6" name="Text 3"/>
          <p:cNvSpPr/>
          <p:nvPr/>
        </p:nvSpPr>
        <p:spPr>
          <a:xfrm>
            <a:off x="514350" y="2396490"/>
            <a:ext cx="6286317" cy="311277"/>
          </a:xfrm>
          <a:prstGeom prst="rect">
            <a:avLst/>
          </a:prstGeom>
          <a:noFill/>
          <a:ln/>
        </p:spPr>
        <p:txBody>
          <a:bodyPr wrap="square" lIns="0" tIns="0" rIns="0" bIns="0" rtlCol="0" anchor="t">
            <a:normAutofit/>
          </a:bodyPr>
          <a:lstStyle/>
          <a:p>
            <a:pPr algn="l" indent="0" marL="0">
              <a:buNone/>
            </a:pPr>
            <a:r>
              <a:rPr lang="en-US" sz="1500" dirty="0">
                <a:solidFill>
                  <a:srgbClr val="34495A"/>
                </a:solidFill>
                <a:latin typeface="Inter" pitchFamily="34" charset="0"/>
                <a:ea typeface="Inter" pitchFamily="34" charset="-122"/>
                <a:cs typeface="Inter" pitchFamily="34" charset="-120"/>
              </a:rPr>
              <a:t>Kelvin Asiedu · IST 402 · Assignment 3</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14350" y="514350"/>
            <a:ext cx="11162995" cy="612902"/>
          </a:xfrm>
          <a:prstGeom prst="rect">
            <a:avLst/>
          </a:prstGeom>
          <a:noFill/>
          <a:ln/>
        </p:spPr>
        <p:txBody>
          <a:bodyPr wrap="square" lIns="0" tIns="0" rIns="0" bIns="0" rtlCol="0" anchor="t">
            <a:normAutofit/>
          </a:bodyPr>
          <a:lstStyle/>
          <a:p>
            <a:pPr algn="l" indent="0" marL="0">
              <a:buNone/>
            </a:pPr>
            <a:r>
              <a:rPr lang="en-US" sz="3400" b="1" dirty="0">
                <a:solidFill>
                  <a:srgbClr val="0B3A57"/>
                </a:solidFill>
                <a:latin typeface="Source Serif 4" pitchFamily="34" charset="0"/>
                <a:ea typeface="Source Serif 4" pitchFamily="34" charset="-122"/>
                <a:cs typeface="Source Serif 4" pitchFamily="34" charset="-120"/>
              </a:rPr>
              <a:t>Meet Alex (fictional)</a:t>
            </a:r>
            <a:endParaRPr lang="en-US" sz="3400" dirty="0"/>
          </a:p>
        </p:txBody>
      </p:sp>
      <p:sp>
        <p:nvSpPr>
          <p:cNvPr id="3" name="Text 1"/>
          <p:cNvSpPr/>
          <p:nvPr/>
        </p:nvSpPr>
        <p:spPr>
          <a:xfrm>
            <a:off x="514350" y="1236980"/>
            <a:ext cx="11162995" cy="549402"/>
          </a:xfrm>
          <a:prstGeom prst="rect">
            <a:avLst/>
          </a:prstGeom>
          <a:noFill/>
          <a:ln/>
        </p:spPr>
        <p:txBody>
          <a:bodyPr wrap="square" lIns="0" tIns="0" rIns="0" bIns="0" rtlCol="0" anchor="t">
            <a:normAutofit/>
          </a:bodyPr>
          <a:lstStyle/>
          <a:p>
            <a:pPr algn="l" indent="0" marL="0">
              <a:buNone/>
            </a:pPr>
            <a:r>
              <a:rPr lang="en-US" sz="1500" dirty="0">
                <a:solidFill>
                  <a:srgbClr val="34495A"/>
                </a:solidFill>
                <a:latin typeface="Inter" pitchFamily="34" charset="0"/>
                <a:ea typeface="Inter" pitchFamily="34" charset="-122"/>
                <a:cs typeface="Inter" pitchFamily="34" charset="-120"/>
              </a:rPr>
              <a:t>A student with a few minutes between classes who wants to slow down before the next thing, without reading, typing or setting anything up.</a:t>
            </a:r>
            <a:endParaRPr lang="en-US" sz="1500" dirty="0"/>
          </a:p>
        </p:txBody>
      </p:sp>
      <p:sp>
        <p:nvSpPr>
          <p:cNvPr id="4" name="Shape 2"/>
          <p:cNvSpPr/>
          <p:nvPr/>
        </p:nvSpPr>
        <p:spPr>
          <a:xfrm>
            <a:off x="514350" y="1896110"/>
            <a:ext cx="3586886" cy="1167257"/>
          </a:xfrm>
          <a:prstGeom prst="roundRect">
            <a:avLst>
              <a:gd name="adj" fmla="val 6267"/>
            </a:avLst>
          </a:prstGeom>
          <a:solidFill>
            <a:srgbClr val="E9F4F9"/>
          </a:solidFill>
          <a:ln w="9525">
            <a:solidFill>
              <a:srgbClr val="E9F4F9">
                <a:alpha val="0"/>
              </a:srgbClr>
            </a:solidFill>
            <a:prstDash val="solid"/>
          </a:ln>
        </p:spPr>
      </p:sp>
      <p:sp>
        <p:nvSpPr>
          <p:cNvPr id="5" name="Text 3"/>
          <p:cNvSpPr/>
          <p:nvPr/>
        </p:nvSpPr>
        <p:spPr>
          <a:xfrm>
            <a:off x="660654" y="2042414"/>
            <a:ext cx="3294278" cy="549402"/>
          </a:xfrm>
          <a:prstGeom prst="rect">
            <a:avLst/>
          </a:prstGeom>
          <a:noFill/>
          <a:ln/>
        </p:spPr>
        <p:txBody>
          <a:bodyPr wrap="square" lIns="0" tIns="0" rIns="0" bIns="0" rtlCol="0" anchor="t">
            <a:normAutofit/>
          </a:bodyPr>
          <a:lstStyle/>
          <a:p>
            <a:pPr indent="0" marL="0">
              <a:buNone/>
            </a:pPr>
            <a:r>
              <a:rPr lang="en-US" sz="3000" b="1" dirty="0">
                <a:solidFill>
                  <a:srgbClr val="0E7CAD"/>
                </a:solidFill>
                <a:latin typeface="Source Serif 4" pitchFamily="34" charset="0"/>
                <a:ea typeface="Source Serif 4" pitchFamily="34" charset="-122"/>
                <a:cs typeface="Source Serif 4" pitchFamily="34" charset="-120"/>
              </a:rPr>
              <a:t>1</a:t>
            </a:r>
            <a:endParaRPr lang="en-US" sz="3000" dirty="0"/>
          </a:p>
        </p:txBody>
      </p:sp>
      <p:sp>
        <p:nvSpPr>
          <p:cNvPr id="6" name="Text 4"/>
          <p:cNvSpPr/>
          <p:nvPr/>
        </p:nvSpPr>
        <p:spPr>
          <a:xfrm>
            <a:off x="660654" y="2591816"/>
            <a:ext cx="3294278" cy="279527"/>
          </a:xfrm>
          <a:prstGeom prst="rect">
            <a:avLst/>
          </a:prstGeom>
          <a:noFill/>
          <a:ln/>
        </p:spPr>
        <p:txBody>
          <a:bodyPr wrap="square" lIns="0" tIns="0" rIns="0" bIns="0" rtlCol="0" anchor="t">
            <a:normAutofit/>
          </a:bodyPr>
          <a:lstStyle/>
          <a:p>
            <a:pPr indent="0" marL="0">
              <a:buNone/>
            </a:pPr>
            <a:r>
              <a:rPr lang="en-US" sz="1300" dirty="0">
                <a:solidFill>
                  <a:srgbClr val="34495A"/>
                </a:solidFill>
                <a:latin typeface="Inter" pitchFamily="34" charset="0"/>
                <a:ea typeface="Inter" pitchFamily="34" charset="-122"/>
                <a:cs typeface="Inter" pitchFamily="34" charset="-120"/>
              </a:rPr>
              <a:t>skill, one button to start</a:t>
            </a:r>
            <a:endParaRPr lang="en-US" sz="1300" dirty="0"/>
          </a:p>
        </p:txBody>
      </p:sp>
      <p:sp>
        <p:nvSpPr>
          <p:cNvPr id="7" name="Shape 5"/>
          <p:cNvSpPr/>
          <p:nvPr/>
        </p:nvSpPr>
        <p:spPr>
          <a:xfrm>
            <a:off x="4302404" y="1896110"/>
            <a:ext cx="3586886" cy="1167257"/>
          </a:xfrm>
          <a:prstGeom prst="roundRect">
            <a:avLst>
              <a:gd name="adj" fmla="val 6267"/>
            </a:avLst>
          </a:prstGeom>
          <a:solidFill>
            <a:srgbClr val="E9F4F9"/>
          </a:solidFill>
          <a:ln w="9525">
            <a:solidFill>
              <a:srgbClr val="E9F4F9">
                <a:alpha val="0"/>
              </a:srgbClr>
            </a:solidFill>
            <a:prstDash val="solid"/>
          </a:ln>
        </p:spPr>
      </p:sp>
      <p:sp>
        <p:nvSpPr>
          <p:cNvPr id="8" name="Text 6"/>
          <p:cNvSpPr/>
          <p:nvPr/>
        </p:nvSpPr>
        <p:spPr>
          <a:xfrm>
            <a:off x="4448708" y="2042414"/>
            <a:ext cx="3294278" cy="549402"/>
          </a:xfrm>
          <a:prstGeom prst="rect">
            <a:avLst/>
          </a:prstGeom>
          <a:noFill/>
          <a:ln/>
        </p:spPr>
        <p:txBody>
          <a:bodyPr wrap="square" lIns="0" tIns="0" rIns="0" bIns="0" rtlCol="0" anchor="t">
            <a:normAutofit/>
          </a:bodyPr>
          <a:lstStyle/>
          <a:p>
            <a:pPr indent="0" marL="0">
              <a:buNone/>
            </a:pPr>
            <a:r>
              <a:rPr lang="en-US" sz="3000" b="1" dirty="0">
                <a:solidFill>
                  <a:srgbClr val="0E7CAD"/>
                </a:solidFill>
                <a:latin typeface="Source Serif 4" pitchFamily="34" charset="0"/>
                <a:ea typeface="Source Serif 4" pitchFamily="34" charset="-122"/>
                <a:cs typeface="Source Serif 4" pitchFamily="34" charset="-120"/>
              </a:rPr>
              <a:t>60 s</a:t>
            </a:r>
            <a:endParaRPr lang="en-US" sz="3000" dirty="0"/>
          </a:p>
        </p:txBody>
      </p:sp>
      <p:sp>
        <p:nvSpPr>
          <p:cNvPr id="9" name="Text 7"/>
          <p:cNvSpPr/>
          <p:nvPr/>
        </p:nvSpPr>
        <p:spPr>
          <a:xfrm>
            <a:off x="4448708" y="2591816"/>
            <a:ext cx="3294278" cy="279527"/>
          </a:xfrm>
          <a:prstGeom prst="rect">
            <a:avLst/>
          </a:prstGeom>
          <a:noFill/>
          <a:ln/>
        </p:spPr>
        <p:txBody>
          <a:bodyPr wrap="square" lIns="0" tIns="0" rIns="0" bIns="0" rtlCol="0" anchor="t">
            <a:normAutofit/>
          </a:bodyPr>
          <a:lstStyle/>
          <a:p>
            <a:pPr indent="0" marL="0">
              <a:buNone/>
            </a:pPr>
            <a:r>
              <a:rPr lang="en-US" sz="1300" dirty="0">
                <a:solidFill>
                  <a:srgbClr val="34495A"/>
                </a:solidFill>
                <a:latin typeface="Inter" pitchFamily="34" charset="0"/>
                <a:ea typeface="Inter" pitchFamily="34" charset="-122"/>
                <a:cs typeface="Inter" pitchFamily="34" charset="-120"/>
              </a:rPr>
              <a:t>six breaths, measured by the app</a:t>
            </a:r>
            <a:endParaRPr lang="en-US" sz="1300" dirty="0"/>
          </a:p>
        </p:txBody>
      </p:sp>
      <p:sp>
        <p:nvSpPr>
          <p:cNvPr id="10" name="Shape 8"/>
          <p:cNvSpPr/>
          <p:nvPr/>
        </p:nvSpPr>
        <p:spPr>
          <a:xfrm>
            <a:off x="8090459" y="1896110"/>
            <a:ext cx="3586886" cy="1167257"/>
          </a:xfrm>
          <a:prstGeom prst="roundRect">
            <a:avLst>
              <a:gd name="adj" fmla="val 6267"/>
            </a:avLst>
          </a:prstGeom>
          <a:solidFill>
            <a:srgbClr val="E9F4F9"/>
          </a:solidFill>
          <a:ln w="9525">
            <a:solidFill>
              <a:srgbClr val="E9F4F9">
                <a:alpha val="0"/>
              </a:srgbClr>
            </a:solidFill>
            <a:prstDash val="solid"/>
          </a:ln>
        </p:spPr>
      </p:sp>
      <p:sp>
        <p:nvSpPr>
          <p:cNvPr id="11" name="Text 9"/>
          <p:cNvSpPr/>
          <p:nvPr/>
        </p:nvSpPr>
        <p:spPr>
          <a:xfrm>
            <a:off x="8236763" y="2042414"/>
            <a:ext cx="3294278" cy="549402"/>
          </a:xfrm>
          <a:prstGeom prst="rect">
            <a:avLst/>
          </a:prstGeom>
          <a:noFill/>
          <a:ln/>
        </p:spPr>
        <p:txBody>
          <a:bodyPr wrap="square" lIns="0" tIns="0" rIns="0" bIns="0" rtlCol="0" anchor="t">
            <a:normAutofit/>
          </a:bodyPr>
          <a:lstStyle/>
          <a:p>
            <a:pPr indent="0" marL="0">
              <a:buNone/>
            </a:pPr>
            <a:r>
              <a:rPr lang="en-US" sz="3000" b="1" dirty="0">
                <a:solidFill>
                  <a:srgbClr val="0E7CAD"/>
                </a:solidFill>
                <a:latin typeface="Source Serif 4" pitchFamily="34" charset="0"/>
                <a:ea typeface="Source Serif 4" pitchFamily="34" charset="-122"/>
                <a:cs typeface="Source Serif 4" pitchFamily="34" charset="-120"/>
              </a:rPr>
              <a:t>0</a:t>
            </a:r>
            <a:endParaRPr lang="en-US" sz="3000" dirty="0"/>
          </a:p>
        </p:txBody>
      </p:sp>
      <p:sp>
        <p:nvSpPr>
          <p:cNvPr id="12" name="Text 10"/>
          <p:cNvSpPr/>
          <p:nvPr/>
        </p:nvSpPr>
        <p:spPr>
          <a:xfrm>
            <a:off x="8236763" y="2591816"/>
            <a:ext cx="3294278" cy="279527"/>
          </a:xfrm>
          <a:prstGeom prst="rect">
            <a:avLst/>
          </a:prstGeom>
          <a:noFill/>
          <a:ln/>
        </p:spPr>
        <p:txBody>
          <a:bodyPr wrap="square" lIns="0" tIns="0" rIns="0" bIns="0" rtlCol="0" anchor="t">
            <a:normAutofit/>
          </a:bodyPr>
          <a:lstStyle/>
          <a:p>
            <a:pPr indent="0" marL="0">
              <a:buNone/>
            </a:pPr>
            <a:r>
              <a:rPr lang="en-US" sz="1300" dirty="0">
                <a:solidFill>
                  <a:srgbClr val="34495A"/>
                </a:solidFill>
                <a:latin typeface="Inter" pitchFamily="34" charset="0"/>
                <a:ea typeface="Inter" pitchFamily="34" charset="-122"/>
                <a:cs typeface="Inter" pitchFamily="34" charset="-120"/>
              </a:rPr>
              <a:t>questions before you begin</a:t>
            </a:r>
            <a:endParaRPr lang="en-US" sz="1300" dirty="0"/>
          </a:p>
        </p:txBody>
      </p:sp>
      <p:sp>
        <p:nvSpPr>
          <p:cNvPr id="13" name="Text 11"/>
          <p:cNvSpPr/>
          <p:nvPr/>
        </p:nvSpPr>
        <p:spPr>
          <a:xfrm>
            <a:off x="697230" y="3173095"/>
            <a:ext cx="10980115" cy="343027"/>
          </a:xfrm>
          <a:prstGeom prst="rect">
            <a:avLst/>
          </a:prstGeom>
          <a:noFill/>
          <a:ln/>
        </p:spPr>
        <p:txBody>
          <a:bodyPr wrap="square" lIns="0" tIns="0" rIns="0" bIns="0" rtlCol="0" anchor="t">
            <a:normAutofit/>
          </a:bodyPr>
          <a:lstStyle/>
          <a:p>
            <a:pPr algn="l" indent="0" marL="0">
              <a:buNone/>
            </a:pPr>
            <a:r>
              <a:rPr lang="en-US" sz="1700" i="1" dirty="0">
                <a:solidFill>
                  <a:srgbClr val="34495A"/>
                </a:solidFill>
                <a:latin typeface="Inter" pitchFamily="34" charset="0"/>
                <a:ea typeface="Inter" pitchFamily="34" charset="-122"/>
                <a:cs typeface="Inter" pitchFamily="34" charset="-120"/>
              </a:rPr>
              <a:t>A class project, not a support service. Nobody is monitoring this app.</a:t>
            </a:r>
            <a:endParaRPr lang="en-US" sz="1700" dirty="0"/>
          </a:p>
        </p:txBody>
      </p:sp>
      <p:sp>
        <p:nvSpPr>
          <p:cNvPr id="14" name="Shape 12"/>
          <p:cNvSpPr/>
          <p:nvPr/>
        </p:nvSpPr>
        <p:spPr>
          <a:xfrm>
            <a:off x="514350" y="3173095"/>
            <a:ext cx="54864" cy="343027"/>
          </a:xfrm>
          <a:prstGeom prst="rect">
            <a:avLst/>
          </a:prstGeom>
          <a:solidFill>
            <a:srgbClr val="0E7CAD"/>
          </a:solidFill>
          <a:ln w="12700">
            <a:solidFill>
              <a:srgbClr val="0E7CAD"/>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27778" r="27778" t="0" b="0"/>
          <a:stretch/>
        </p:blipFill>
        <p:spPr>
          <a:xfrm>
            <a:off x="7315017" y="0"/>
            <a:ext cx="4876678" cy="6858000"/>
          </a:xfrm>
          <a:prstGeom prst="rect">
            <a:avLst/>
          </a:prstGeom>
        </p:spPr>
      </p:pic>
      <p:sp>
        <p:nvSpPr>
          <p:cNvPr id="3" name="Text 0"/>
          <p:cNvSpPr/>
          <p:nvPr/>
        </p:nvSpPr>
        <p:spPr>
          <a:xfrm>
            <a:off x="514350" y="514350"/>
            <a:ext cx="6286317" cy="612902"/>
          </a:xfrm>
          <a:prstGeom prst="rect">
            <a:avLst/>
          </a:prstGeom>
          <a:noFill/>
          <a:ln/>
        </p:spPr>
        <p:txBody>
          <a:bodyPr wrap="square" lIns="0" tIns="0" rIns="0" bIns="0" rtlCol="0" anchor="t">
            <a:normAutofit/>
          </a:bodyPr>
          <a:lstStyle/>
          <a:p>
            <a:pPr algn="l" indent="0" marL="0">
              <a:buNone/>
            </a:pPr>
            <a:r>
              <a:rPr lang="en-US" sz="3400" b="1" dirty="0">
                <a:solidFill>
                  <a:srgbClr val="0B3A57"/>
                </a:solidFill>
                <a:latin typeface="Source Serif 4" pitchFamily="34" charset="0"/>
                <a:ea typeface="Source Serif 4" pitchFamily="34" charset="-122"/>
                <a:cs typeface="Source Serif 4" pitchFamily="34" charset="-120"/>
              </a:rPr>
              <a:t>The skill, start to finish</a:t>
            </a:r>
            <a:endParaRPr lang="en-US" sz="3400" dirty="0"/>
          </a:p>
        </p:txBody>
      </p:sp>
      <p:sp>
        <p:nvSpPr>
          <p:cNvPr id="4" name="Shape 1"/>
          <p:cNvSpPr/>
          <p:nvPr/>
        </p:nvSpPr>
        <p:spPr>
          <a:xfrm>
            <a:off x="514350" y="1236980"/>
            <a:ext cx="6286317" cy="945007"/>
          </a:xfrm>
          <a:prstGeom prst="roundRect">
            <a:avLst>
              <a:gd name="adj" fmla="val 7741"/>
            </a:avLst>
          </a:prstGeom>
          <a:solidFill>
            <a:srgbClr val="E9F4F9"/>
          </a:solidFill>
          <a:ln w="9525">
            <a:solidFill>
              <a:srgbClr val="E9F4F9">
                <a:alpha val="0"/>
              </a:srgbClr>
            </a:solidFill>
            <a:prstDash val="solid"/>
          </a:ln>
        </p:spPr>
      </p:sp>
      <p:sp>
        <p:nvSpPr>
          <p:cNvPr id="5" name="Text 2"/>
          <p:cNvSpPr/>
          <p:nvPr/>
        </p:nvSpPr>
        <p:spPr>
          <a:xfrm>
            <a:off x="660654" y="1383284"/>
            <a:ext cx="310896" cy="310896"/>
          </a:xfrm>
          <a:prstGeom prst="ellipse">
            <a:avLst/>
          </a:prstGeom>
          <a:solidFill>
            <a:srgbClr val="0E7CAD"/>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6" name="Text 3"/>
          <p:cNvSpPr/>
          <p:nvPr/>
        </p:nvSpPr>
        <p:spPr>
          <a:xfrm>
            <a:off x="1072134" y="1383284"/>
            <a:ext cx="5582229" cy="327152"/>
          </a:xfrm>
          <a:prstGeom prst="rect">
            <a:avLst/>
          </a:prstGeom>
          <a:noFill/>
          <a:ln/>
        </p:spPr>
        <p:txBody>
          <a:bodyPr wrap="square" lIns="0" tIns="0" rIns="0" bIns="0" rtlCol="0" anchor="t">
            <a:normAutofit/>
          </a:bodyPr>
          <a:lstStyle/>
          <a:p>
            <a:pPr indent="0" marL="0">
              <a:buNone/>
            </a:pPr>
            <a:r>
              <a:rPr lang="en-US" sz="1600" b="1" dirty="0">
                <a:solidFill>
                  <a:srgbClr val="0B3A57"/>
                </a:solidFill>
                <a:latin typeface="Source Serif 4" pitchFamily="34" charset="0"/>
                <a:ea typeface="Source Serif 4" pitchFamily="34" charset="-122"/>
                <a:cs typeface="Source Serif 4" pitchFamily="34" charset="-120"/>
              </a:rPr>
              <a:t>Start</a:t>
            </a:r>
            <a:endParaRPr lang="en-US" sz="1600" dirty="0"/>
          </a:p>
        </p:txBody>
      </p:sp>
      <p:sp>
        <p:nvSpPr>
          <p:cNvPr id="7" name="Text 4"/>
          <p:cNvSpPr/>
          <p:nvPr/>
        </p:nvSpPr>
        <p:spPr>
          <a:xfrm>
            <a:off x="1072134" y="1710436"/>
            <a:ext cx="5582229" cy="279527"/>
          </a:xfrm>
          <a:prstGeom prst="rect">
            <a:avLst/>
          </a:prstGeom>
          <a:noFill/>
          <a:ln/>
        </p:spPr>
        <p:txBody>
          <a:bodyPr wrap="square" lIns="0" tIns="0" rIns="0" bIns="0" rtlCol="0" anchor="t">
            <a:normAutofit/>
          </a:bodyPr>
          <a:lstStyle/>
          <a:p>
            <a:pPr indent="0" marL="0">
              <a:buNone/>
            </a:pPr>
            <a:r>
              <a:rPr lang="en-US" sz="1300" dirty="0">
                <a:solidFill>
                  <a:srgbClr val="34495A"/>
                </a:solidFill>
                <a:latin typeface="Inter" pitchFamily="34" charset="0"/>
                <a:ea typeface="Inter" pitchFamily="34" charset="-122"/>
                <a:cs typeface="Inter" pitchFamily="34" charset="-120"/>
              </a:rPr>
              <a:t>One button, or press Enter. Nothing to fill in first.</a:t>
            </a:r>
            <a:endParaRPr lang="en-US" sz="1300" dirty="0"/>
          </a:p>
        </p:txBody>
      </p:sp>
      <p:sp>
        <p:nvSpPr>
          <p:cNvPr id="8" name="Shape 5"/>
          <p:cNvSpPr/>
          <p:nvPr/>
        </p:nvSpPr>
        <p:spPr>
          <a:xfrm>
            <a:off x="514350" y="2383155"/>
            <a:ext cx="6286317" cy="1151382"/>
          </a:xfrm>
          <a:prstGeom prst="roundRect">
            <a:avLst>
              <a:gd name="adj" fmla="val 6353"/>
            </a:avLst>
          </a:prstGeom>
          <a:solidFill>
            <a:srgbClr val="E9F4F9"/>
          </a:solidFill>
          <a:ln w="9525">
            <a:solidFill>
              <a:srgbClr val="E9F4F9">
                <a:alpha val="0"/>
              </a:srgbClr>
            </a:solidFill>
            <a:prstDash val="solid"/>
          </a:ln>
        </p:spPr>
      </p:sp>
      <p:sp>
        <p:nvSpPr>
          <p:cNvPr id="9" name="Text 6"/>
          <p:cNvSpPr/>
          <p:nvPr/>
        </p:nvSpPr>
        <p:spPr>
          <a:xfrm>
            <a:off x="660654" y="2529459"/>
            <a:ext cx="310896" cy="310896"/>
          </a:xfrm>
          <a:prstGeom prst="ellipse">
            <a:avLst/>
          </a:prstGeom>
          <a:solidFill>
            <a:srgbClr val="0E7CAD"/>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0" name="Text 7"/>
          <p:cNvSpPr/>
          <p:nvPr/>
        </p:nvSpPr>
        <p:spPr>
          <a:xfrm>
            <a:off x="1072134" y="2529459"/>
            <a:ext cx="5582229" cy="327152"/>
          </a:xfrm>
          <a:prstGeom prst="rect">
            <a:avLst/>
          </a:prstGeom>
          <a:noFill/>
          <a:ln/>
        </p:spPr>
        <p:txBody>
          <a:bodyPr wrap="square" lIns="0" tIns="0" rIns="0" bIns="0" rtlCol="0" anchor="t">
            <a:normAutofit/>
          </a:bodyPr>
          <a:lstStyle/>
          <a:p>
            <a:pPr indent="0" marL="0">
              <a:buNone/>
            </a:pPr>
            <a:r>
              <a:rPr lang="en-US" sz="1600" b="1" dirty="0">
                <a:solidFill>
                  <a:srgbClr val="0B3A57"/>
                </a:solidFill>
                <a:latin typeface="Source Serif 4" pitchFamily="34" charset="0"/>
                <a:ea typeface="Source Serif 4" pitchFamily="34" charset="-122"/>
                <a:cs typeface="Source Serif 4" pitchFamily="34" charset="-120"/>
              </a:rPr>
              <a:t>Breathe</a:t>
            </a:r>
            <a:endParaRPr lang="en-US" sz="1600" dirty="0"/>
          </a:p>
        </p:txBody>
      </p:sp>
      <p:sp>
        <p:nvSpPr>
          <p:cNvPr id="11" name="Text 8"/>
          <p:cNvSpPr/>
          <p:nvPr/>
        </p:nvSpPr>
        <p:spPr>
          <a:xfrm>
            <a:off x="1072134" y="2856611"/>
            <a:ext cx="5582229" cy="485902"/>
          </a:xfrm>
          <a:prstGeom prst="rect">
            <a:avLst/>
          </a:prstGeom>
          <a:noFill/>
          <a:ln/>
        </p:spPr>
        <p:txBody>
          <a:bodyPr wrap="square" lIns="0" tIns="0" rIns="0" bIns="0" rtlCol="0" anchor="t">
            <a:normAutofit/>
          </a:bodyPr>
          <a:lstStyle/>
          <a:p>
            <a:pPr indent="0" marL="0">
              <a:buNone/>
            </a:pPr>
            <a:r>
              <a:rPr lang="en-US" sz="1300" dirty="0">
                <a:solidFill>
                  <a:srgbClr val="34495A"/>
                </a:solidFill>
                <a:latin typeface="Inter" pitchFamily="34" charset="0"/>
                <a:ea typeface="Inter" pitchFamily="34" charset="-122"/>
                <a:cs typeface="Inter" pitchFamily="34" charset="-120"/>
              </a:rPr>
              <a:t>The orb grows for 4 s and shrinks for 6 s. The pace is carried for you.</a:t>
            </a:r>
            <a:endParaRPr lang="en-US" sz="1300" dirty="0"/>
          </a:p>
        </p:txBody>
      </p:sp>
      <p:sp>
        <p:nvSpPr>
          <p:cNvPr id="12" name="Shape 9"/>
          <p:cNvSpPr/>
          <p:nvPr/>
        </p:nvSpPr>
        <p:spPr>
          <a:xfrm>
            <a:off x="514350" y="3735705"/>
            <a:ext cx="6286317" cy="945007"/>
          </a:xfrm>
          <a:prstGeom prst="roundRect">
            <a:avLst>
              <a:gd name="adj" fmla="val 7741"/>
            </a:avLst>
          </a:prstGeom>
          <a:solidFill>
            <a:srgbClr val="E9F4F9"/>
          </a:solidFill>
          <a:ln w="9525">
            <a:solidFill>
              <a:srgbClr val="E9F4F9">
                <a:alpha val="0"/>
              </a:srgbClr>
            </a:solidFill>
            <a:prstDash val="solid"/>
          </a:ln>
        </p:spPr>
      </p:sp>
      <p:sp>
        <p:nvSpPr>
          <p:cNvPr id="13" name="Text 10"/>
          <p:cNvSpPr/>
          <p:nvPr/>
        </p:nvSpPr>
        <p:spPr>
          <a:xfrm>
            <a:off x="660654" y="3882009"/>
            <a:ext cx="310896" cy="310896"/>
          </a:xfrm>
          <a:prstGeom prst="ellipse">
            <a:avLst/>
          </a:prstGeom>
          <a:solidFill>
            <a:srgbClr val="0E7CAD"/>
          </a:solid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4" name="Text 11"/>
          <p:cNvSpPr/>
          <p:nvPr/>
        </p:nvSpPr>
        <p:spPr>
          <a:xfrm>
            <a:off x="1072134" y="3882009"/>
            <a:ext cx="5582229" cy="327152"/>
          </a:xfrm>
          <a:prstGeom prst="rect">
            <a:avLst/>
          </a:prstGeom>
          <a:noFill/>
          <a:ln/>
        </p:spPr>
        <p:txBody>
          <a:bodyPr wrap="square" lIns="0" tIns="0" rIns="0" bIns="0" rtlCol="0" anchor="t">
            <a:normAutofit/>
          </a:bodyPr>
          <a:lstStyle/>
          <a:p>
            <a:pPr indent="0" marL="0">
              <a:buNone/>
            </a:pPr>
            <a:r>
              <a:rPr lang="en-US" sz="1600" b="1" dirty="0">
                <a:solidFill>
                  <a:srgbClr val="0B3A57"/>
                </a:solidFill>
                <a:latin typeface="Source Serif 4" pitchFamily="34" charset="0"/>
                <a:ea typeface="Source Serif 4" pitchFamily="34" charset="-122"/>
                <a:cs typeface="Source Serif 4" pitchFamily="34" charset="-120"/>
              </a:rPr>
              <a:t>Pause for Support</a:t>
            </a:r>
            <a:endParaRPr lang="en-US" sz="1600" dirty="0"/>
          </a:p>
        </p:txBody>
      </p:sp>
      <p:sp>
        <p:nvSpPr>
          <p:cNvPr id="15" name="Text 12"/>
          <p:cNvSpPr/>
          <p:nvPr/>
        </p:nvSpPr>
        <p:spPr>
          <a:xfrm>
            <a:off x="1072134" y="4209161"/>
            <a:ext cx="5582229" cy="279527"/>
          </a:xfrm>
          <a:prstGeom prst="rect">
            <a:avLst/>
          </a:prstGeom>
          <a:noFill/>
          <a:ln/>
        </p:spPr>
        <p:txBody>
          <a:bodyPr wrap="square" lIns="0" tIns="0" rIns="0" bIns="0" rtlCol="0" anchor="t">
            <a:normAutofit/>
          </a:bodyPr>
          <a:lstStyle/>
          <a:p>
            <a:pPr indent="0" marL="0">
              <a:buNone/>
            </a:pPr>
            <a:r>
              <a:rPr lang="en-US" sz="1300" dirty="0">
                <a:solidFill>
                  <a:srgbClr val="34495A"/>
                </a:solidFill>
                <a:latin typeface="Inter" pitchFamily="34" charset="0"/>
                <a:ea typeface="Inter" pitchFamily="34" charset="-122"/>
                <a:cs typeface="Inter" pitchFamily="34" charset="-120"/>
              </a:rPr>
              <a:t>Opens from any screen and pauses the exercise.</a:t>
            </a:r>
            <a:endParaRPr lang="en-US" sz="1300" dirty="0"/>
          </a:p>
        </p:txBody>
      </p:sp>
      <p:sp>
        <p:nvSpPr>
          <p:cNvPr id="16" name="Shape 13"/>
          <p:cNvSpPr/>
          <p:nvPr/>
        </p:nvSpPr>
        <p:spPr>
          <a:xfrm>
            <a:off x="514350" y="4881880"/>
            <a:ext cx="6286317" cy="945007"/>
          </a:xfrm>
          <a:prstGeom prst="roundRect">
            <a:avLst>
              <a:gd name="adj" fmla="val 7741"/>
            </a:avLst>
          </a:prstGeom>
          <a:solidFill>
            <a:srgbClr val="E9F4F9"/>
          </a:solidFill>
          <a:ln w="9525">
            <a:solidFill>
              <a:srgbClr val="E9F4F9">
                <a:alpha val="0"/>
              </a:srgbClr>
            </a:solidFill>
            <a:prstDash val="solid"/>
          </a:ln>
        </p:spPr>
      </p:sp>
      <p:sp>
        <p:nvSpPr>
          <p:cNvPr id="17" name="Text 14"/>
          <p:cNvSpPr/>
          <p:nvPr/>
        </p:nvSpPr>
        <p:spPr>
          <a:xfrm>
            <a:off x="660654" y="5028184"/>
            <a:ext cx="310896" cy="310896"/>
          </a:xfrm>
          <a:prstGeom prst="ellipse">
            <a:avLst/>
          </a:prstGeom>
          <a:solidFill>
            <a:srgbClr val="0E7CAD"/>
          </a:solidFill>
          <a:ln/>
        </p:spPr>
        <p:txBody>
          <a:bodyPr wrap="square" lIns="0" tIns="0" rIns="0" bIns="0" rtlCol="0" anchor="ctr"/>
          <a:lstStyle/>
          <a:p>
            <a:pPr algn="ctr" indent="0" marL="0">
              <a:buNone/>
            </a:pPr>
            <a:r>
              <a:rPr lang="en-US" sz="1100" b="1" dirty="0">
                <a:solidFill>
                  <a:srgbClr val="FFFFFF"/>
                </a:solidFill>
              </a:rPr>
              <a:t>4</a:t>
            </a:r>
            <a:endParaRPr lang="en-US" sz="1100" dirty="0"/>
          </a:p>
        </p:txBody>
      </p:sp>
      <p:sp>
        <p:nvSpPr>
          <p:cNvPr id="18" name="Text 15"/>
          <p:cNvSpPr/>
          <p:nvPr/>
        </p:nvSpPr>
        <p:spPr>
          <a:xfrm>
            <a:off x="1072134" y="5028184"/>
            <a:ext cx="5582229" cy="327152"/>
          </a:xfrm>
          <a:prstGeom prst="rect">
            <a:avLst/>
          </a:prstGeom>
          <a:noFill/>
          <a:ln/>
        </p:spPr>
        <p:txBody>
          <a:bodyPr wrap="square" lIns="0" tIns="0" rIns="0" bIns="0" rtlCol="0" anchor="t">
            <a:normAutofit/>
          </a:bodyPr>
          <a:lstStyle/>
          <a:p>
            <a:pPr indent="0" marL="0">
              <a:buNone/>
            </a:pPr>
            <a:r>
              <a:rPr lang="en-US" sz="1600" b="1" dirty="0">
                <a:solidFill>
                  <a:srgbClr val="0B3A57"/>
                </a:solidFill>
                <a:latin typeface="Source Serif 4" pitchFamily="34" charset="0"/>
                <a:ea typeface="Source Serif 4" pitchFamily="34" charset="-122"/>
                <a:cs typeface="Source Serif 4" pitchFamily="34" charset="-120"/>
              </a:rPr>
              <a:t>Stop any time</a:t>
            </a:r>
            <a:endParaRPr lang="en-US" sz="1600" dirty="0"/>
          </a:p>
        </p:txBody>
      </p:sp>
      <p:sp>
        <p:nvSpPr>
          <p:cNvPr id="19" name="Text 16"/>
          <p:cNvSpPr/>
          <p:nvPr/>
        </p:nvSpPr>
        <p:spPr>
          <a:xfrm>
            <a:off x="1072134" y="5355336"/>
            <a:ext cx="5582229" cy="279527"/>
          </a:xfrm>
          <a:prstGeom prst="rect">
            <a:avLst/>
          </a:prstGeom>
          <a:noFill/>
          <a:ln/>
        </p:spPr>
        <p:txBody>
          <a:bodyPr wrap="square" lIns="0" tIns="0" rIns="0" bIns="0" rtlCol="0" anchor="t">
            <a:normAutofit/>
          </a:bodyPr>
          <a:lstStyle/>
          <a:p>
            <a:pPr indent="0" marL="0">
              <a:buNone/>
            </a:pPr>
            <a:r>
              <a:rPr lang="en-US" sz="1300" dirty="0">
                <a:solidFill>
                  <a:srgbClr val="34495A"/>
                </a:solidFill>
                <a:latin typeface="Inter" pitchFamily="34" charset="0"/>
                <a:ea typeface="Inter" pitchFamily="34" charset="-122"/>
                <a:cs typeface="Inter" pitchFamily="34" charset="-120"/>
              </a:rPr>
              <a:t>No "are you sure", no streak, no penalty.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14350" y="514350"/>
            <a:ext cx="11162995" cy="612902"/>
          </a:xfrm>
          <a:prstGeom prst="rect">
            <a:avLst/>
          </a:prstGeom>
          <a:noFill/>
          <a:ln/>
        </p:spPr>
        <p:txBody>
          <a:bodyPr wrap="square" lIns="0" tIns="0" rIns="0" bIns="0" rtlCol="0" anchor="t">
            <a:normAutofit/>
          </a:bodyPr>
          <a:lstStyle/>
          <a:p>
            <a:pPr algn="l" indent="0" marL="0">
              <a:buNone/>
            </a:pPr>
            <a:r>
              <a:rPr lang="en-US" sz="3400" b="1" dirty="0">
                <a:solidFill>
                  <a:srgbClr val="0B3A57"/>
                </a:solidFill>
                <a:latin typeface="Source Serif 4" pitchFamily="34" charset="0"/>
                <a:ea typeface="Source Serif 4" pitchFamily="34" charset="-122"/>
                <a:cs typeface="Source Serif 4" pitchFamily="34" charset="-120"/>
              </a:rPr>
              <a:t>Why it looks like this</a:t>
            </a:r>
            <a:endParaRPr lang="en-US" sz="3400" dirty="0"/>
          </a:p>
        </p:txBody>
      </p:sp>
      <p:sp>
        <p:nvSpPr>
          <p:cNvPr id="3" name="Text 1"/>
          <p:cNvSpPr/>
          <p:nvPr/>
        </p:nvSpPr>
        <p:spPr>
          <a:xfrm>
            <a:off x="514350" y="1236980"/>
            <a:ext cx="11162995" cy="311277"/>
          </a:xfrm>
          <a:prstGeom prst="rect">
            <a:avLst/>
          </a:prstGeom>
          <a:noFill/>
          <a:ln/>
        </p:spPr>
        <p:txBody>
          <a:bodyPr wrap="square" lIns="0" tIns="0" rIns="0" bIns="0" rtlCol="0" anchor="t">
            <a:normAutofit/>
          </a:bodyPr>
          <a:lstStyle/>
          <a:p>
            <a:pPr algn="l" indent="0" marL="0">
              <a:buNone/>
            </a:pPr>
            <a:r>
              <a:rPr lang="en-US" sz="1500" dirty="0">
                <a:solidFill>
                  <a:srgbClr val="34495A"/>
                </a:solidFill>
                <a:latin typeface="Inter" pitchFamily="34" charset="0"/>
                <a:ea typeface="Inter" pitchFamily="34" charset="-122"/>
                <a:cs typeface="Inter" pitchFamily="34" charset="-120"/>
              </a:rPr>
              <a:t>Each choice comes from the study's findings (15 patients, 13 clinicians).</a:t>
            </a:r>
            <a:endParaRPr lang="en-US" sz="1500" dirty="0"/>
          </a:p>
        </p:txBody>
      </p:sp>
      <p:sp>
        <p:nvSpPr>
          <p:cNvPr id="4" name="Shape 2"/>
          <p:cNvSpPr/>
          <p:nvPr/>
        </p:nvSpPr>
        <p:spPr>
          <a:xfrm>
            <a:off x="514350" y="1657985"/>
            <a:ext cx="3586886" cy="1151382"/>
          </a:xfrm>
          <a:prstGeom prst="roundRect">
            <a:avLst>
              <a:gd name="adj" fmla="val 6353"/>
            </a:avLst>
          </a:prstGeom>
          <a:solidFill>
            <a:srgbClr val="E9F4F9"/>
          </a:solidFill>
          <a:ln w="9525">
            <a:solidFill>
              <a:srgbClr val="E9F4F9">
                <a:alpha val="0"/>
              </a:srgbClr>
            </a:solidFill>
            <a:prstDash val="solid"/>
          </a:ln>
        </p:spPr>
      </p:sp>
      <p:sp>
        <p:nvSpPr>
          <p:cNvPr id="5" name="Text 3"/>
          <p:cNvSpPr/>
          <p:nvPr/>
        </p:nvSpPr>
        <p:spPr>
          <a:xfrm>
            <a:off x="660654" y="1804289"/>
            <a:ext cx="3294278" cy="327152"/>
          </a:xfrm>
          <a:prstGeom prst="rect">
            <a:avLst/>
          </a:prstGeom>
          <a:noFill/>
          <a:ln/>
        </p:spPr>
        <p:txBody>
          <a:bodyPr wrap="square" lIns="0" tIns="0" rIns="0" bIns="0" rtlCol="0" anchor="t">
            <a:normAutofit/>
          </a:bodyPr>
          <a:lstStyle/>
          <a:p>
            <a:pPr indent="0" marL="0">
              <a:buNone/>
            </a:pPr>
            <a:r>
              <a:rPr lang="en-US" sz="1600" b="1" dirty="0">
                <a:solidFill>
                  <a:srgbClr val="0B3A57"/>
                </a:solidFill>
                <a:latin typeface="Source Serif 4" pitchFamily="34" charset="0"/>
                <a:ea typeface="Source Serif 4" pitchFamily="34" charset="-122"/>
                <a:cs typeface="Source Serif 4" pitchFamily="34" charset="-120"/>
              </a:rPr>
              <a:t>R1 · Under 90 seconds</a:t>
            </a:r>
            <a:endParaRPr lang="en-US" sz="1600" dirty="0"/>
          </a:p>
        </p:txBody>
      </p:sp>
      <p:sp>
        <p:nvSpPr>
          <p:cNvPr id="6" name="Text 4"/>
          <p:cNvSpPr/>
          <p:nvPr/>
        </p:nvSpPr>
        <p:spPr>
          <a:xfrm>
            <a:off x="660654" y="2131441"/>
            <a:ext cx="3294278" cy="485902"/>
          </a:xfrm>
          <a:prstGeom prst="rect">
            <a:avLst/>
          </a:prstGeom>
          <a:noFill/>
          <a:ln/>
        </p:spPr>
        <p:txBody>
          <a:bodyPr wrap="square" lIns="0" tIns="0" rIns="0" bIns="0" rtlCol="0" anchor="t">
            <a:normAutofit/>
          </a:bodyPr>
          <a:lstStyle/>
          <a:p>
            <a:pPr indent="0" marL="0">
              <a:buNone/>
            </a:pPr>
            <a:r>
              <a:rPr lang="en-US" sz="1300" dirty="0">
                <a:solidFill>
                  <a:srgbClr val="34495A"/>
                </a:solidFill>
                <a:latin typeface="Inter" pitchFamily="34" charset="0"/>
                <a:ea typeface="Inter" pitchFamily="34" charset="-122"/>
                <a:cs typeface="Inter" pitchFamily="34" charset="-120"/>
              </a:rPr>
              <a:t>People drift after 90 to 100 s. Six breaths take 60 s, measured.</a:t>
            </a:r>
            <a:endParaRPr lang="en-US" sz="1300" dirty="0"/>
          </a:p>
        </p:txBody>
      </p:sp>
      <p:sp>
        <p:nvSpPr>
          <p:cNvPr id="7" name="Shape 5"/>
          <p:cNvSpPr/>
          <p:nvPr/>
        </p:nvSpPr>
        <p:spPr>
          <a:xfrm>
            <a:off x="4302404" y="1657985"/>
            <a:ext cx="3586886" cy="1151382"/>
          </a:xfrm>
          <a:prstGeom prst="roundRect">
            <a:avLst>
              <a:gd name="adj" fmla="val 6353"/>
            </a:avLst>
          </a:prstGeom>
          <a:solidFill>
            <a:srgbClr val="E9F4F9"/>
          </a:solidFill>
          <a:ln w="9525">
            <a:solidFill>
              <a:srgbClr val="E9F4F9">
                <a:alpha val="0"/>
              </a:srgbClr>
            </a:solidFill>
            <a:prstDash val="solid"/>
          </a:ln>
        </p:spPr>
      </p:sp>
      <p:sp>
        <p:nvSpPr>
          <p:cNvPr id="8" name="Text 6"/>
          <p:cNvSpPr/>
          <p:nvPr/>
        </p:nvSpPr>
        <p:spPr>
          <a:xfrm>
            <a:off x="4448708" y="1804289"/>
            <a:ext cx="3294278" cy="327152"/>
          </a:xfrm>
          <a:prstGeom prst="rect">
            <a:avLst/>
          </a:prstGeom>
          <a:noFill/>
          <a:ln/>
        </p:spPr>
        <p:txBody>
          <a:bodyPr wrap="square" lIns="0" tIns="0" rIns="0" bIns="0" rtlCol="0" anchor="t">
            <a:normAutofit/>
          </a:bodyPr>
          <a:lstStyle/>
          <a:p>
            <a:pPr indent="0" marL="0">
              <a:buNone/>
            </a:pPr>
            <a:r>
              <a:rPr lang="en-US" sz="1600" b="1" dirty="0">
                <a:solidFill>
                  <a:srgbClr val="0B3A57"/>
                </a:solidFill>
                <a:latin typeface="Source Serif 4" pitchFamily="34" charset="0"/>
                <a:ea typeface="Source Serif 4" pitchFamily="34" charset="-122"/>
                <a:cs typeface="Source Serif 4" pitchFamily="34" charset="-120"/>
              </a:rPr>
              <a:t>R2 + D4 · Support never moves</a:t>
            </a:r>
            <a:endParaRPr lang="en-US" sz="1600" dirty="0"/>
          </a:p>
        </p:txBody>
      </p:sp>
      <p:sp>
        <p:nvSpPr>
          <p:cNvPr id="9" name="Text 7"/>
          <p:cNvSpPr/>
          <p:nvPr/>
        </p:nvSpPr>
        <p:spPr>
          <a:xfrm>
            <a:off x="4448708" y="2131441"/>
            <a:ext cx="3294278" cy="485902"/>
          </a:xfrm>
          <a:prstGeom prst="rect">
            <a:avLst/>
          </a:prstGeom>
          <a:noFill/>
          <a:ln/>
        </p:spPr>
        <p:txBody>
          <a:bodyPr wrap="square" lIns="0" tIns="0" rIns="0" bIns="0" rtlCol="0" anchor="t">
            <a:normAutofit/>
          </a:bodyPr>
          <a:lstStyle/>
          <a:p>
            <a:pPr indent="0" marL="0">
              <a:buNone/>
            </a:pPr>
            <a:r>
              <a:rPr lang="en-US" sz="1300" dirty="0">
                <a:solidFill>
                  <a:srgbClr val="34495A"/>
                </a:solidFill>
                <a:latin typeface="Inter" pitchFamily="34" charset="0"/>
                <a:ea typeface="Inter" pitchFamily="34" charset="-122"/>
                <a:cs typeface="Inter" pitchFamily="34" charset="-120"/>
              </a:rPr>
              <a:t>In the top bar on every screen, even mid-exercise.</a:t>
            </a:r>
            <a:endParaRPr lang="en-US" sz="1300" dirty="0"/>
          </a:p>
        </p:txBody>
      </p:sp>
      <p:sp>
        <p:nvSpPr>
          <p:cNvPr id="10" name="Shape 8"/>
          <p:cNvSpPr/>
          <p:nvPr/>
        </p:nvSpPr>
        <p:spPr>
          <a:xfrm>
            <a:off x="8090459" y="1657985"/>
            <a:ext cx="3586886" cy="1151382"/>
          </a:xfrm>
          <a:prstGeom prst="roundRect">
            <a:avLst>
              <a:gd name="adj" fmla="val 6353"/>
            </a:avLst>
          </a:prstGeom>
          <a:solidFill>
            <a:srgbClr val="E9F4F9"/>
          </a:solidFill>
          <a:ln w="9525">
            <a:solidFill>
              <a:srgbClr val="E9F4F9">
                <a:alpha val="0"/>
              </a:srgbClr>
            </a:solidFill>
            <a:prstDash val="solid"/>
          </a:ln>
        </p:spPr>
      </p:sp>
      <p:sp>
        <p:nvSpPr>
          <p:cNvPr id="11" name="Text 9"/>
          <p:cNvSpPr/>
          <p:nvPr/>
        </p:nvSpPr>
        <p:spPr>
          <a:xfrm>
            <a:off x="8236763" y="1804289"/>
            <a:ext cx="3294278" cy="327152"/>
          </a:xfrm>
          <a:prstGeom prst="rect">
            <a:avLst/>
          </a:prstGeom>
          <a:noFill/>
          <a:ln/>
        </p:spPr>
        <p:txBody>
          <a:bodyPr wrap="square" lIns="0" tIns="0" rIns="0" bIns="0" rtlCol="0" anchor="t">
            <a:normAutofit/>
          </a:bodyPr>
          <a:lstStyle/>
          <a:p>
            <a:pPr indent="0" marL="0">
              <a:buNone/>
            </a:pPr>
            <a:r>
              <a:rPr lang="en-US" sz="1600" b="1" dirty="0">
                <a:solidFill>
                  <a:srgbClr val="0B3A57"/>
                </a:solidFill>
                <a:latin typeface="Source Serif 4" pitchFamily="34" charset="0"/>
                <a:ea typeface="Source Serif 4" pitchFamily="34" charset="-122"/>
                <a:cs typeface="Source Serif 4" pitchFamily="34" charset="-120"/>
              </a:rPr>
              <a:t>R3 · Permission to stop</a:t>
            </a:r>
            <a:endParaRPr lang="en-US" sz="1600" dirty="0"/>
          </a:p>
        </p:txBody>
      </p:sp>
      <p:sp>
        <p:nvSpPr>
          <p:cNvPr id="12" name="Text 10"/>
          <p:cNvSpPr/>
          <p:nvPr/>
        </p:nvSpPr>
        <p:spPr>
          <a:xfrm>
            <a:off x="8236763" y="2131441"/>
            <a:ext cx="3294278" cy="485902"/>
          </a:xfrm>
          <a:prstGeom prst="rect">
            <a:avLst/>
          </a:prstGeom>
          <a:noFill/>
          <a:ln/>
        </p:spPr>
        <p:txBody>
          <a:bodyPr wrap="square" lIns="0" tIns="0" rIns="0" bIns="0" rtlCol="0" anchor="t">
            <a:normAutofit/>
          </a:bodyPr>
          <a:lstStyle/>
          <a:p>
            <a:pPr indent="0" marL="0">
              <a:buNone/>
            </a:pPr>
            <a:r>
              <a:rPr lang="en-US" sz="1300" dirty="0">
                <a:solidFill>
                  <a:srgbClr val="34495A"/>
                </a:solidFill>
                <a:latin typeface="Inter" pitchFamily="34" charset="0"/>
                <a:ea typeface="Inter" pitchFamily="34" charset="-122"/>
                <a:cs typeface="Inter" pitchFamily="34" charset="-120"/>
              </a:rPr>
              <a:t>Stop is one press and leaving costs nothing.</a:t>
            </a:r>
            <a:endParaRPr lang="en-US" sz="1300" dirty="0"/>
          </a:p>
        </p:txBody>
      </p:sp>
      <p:sp>
        <p:nvSpPr>
          <p:cNvPr id="13" name="Shape 11"/>
          <p:cNvSpPr/>
          <p:nvPr/>
        </p:nvSpPr>
        <p:spPr>
          <a:xfrm>
            <a:off x="514350" y="3010535"/>
            <a:ext cx="3586886" cy="1151382"/>
          </a:xfrm>
          <a:prstGeom prst="roundRect">
            <a:avLst>
              <a:gd name="adj" fmla="val 6353"/>
            </a:avLst>
          </a:prstGeom>
          <a:solidFill>
            <a:srgbClr val="E9F4F9"/>
          </a:solidFill>
          <a:ln w="9525">
            <a:solidFill>
              <a:srgbClr val="E9F4F9">
                <a:alpha val="0"/>
              </a:srgbClr>
            </a:solidFill>
            <a:prstDash val="solid"/>
          </a:ln>
        </p:spPr>
      </p:sp>
      <p:sp>
        <p:nvSpPr>
          <p:cNvPr id="14" name="Text 12"/>
          <p:cNvSpPr/>
          <p:nvPr/>
        </p:nvSpPr>
        <p:spPr>
          <a:xfrm>
            <a:off x="660654" y="3156839"/>
            <a:ext cx="3294278" cy="327152"/>
          </a:xfrm>
          <a:prstGeom prst="rect">
            <a:avLst/>
          </a:prstGeom>
          <a:noFill/>
          <a:ln/>
        </p:spPr>
        <p:txBody>
          <a:bodyPr wrap="square" lIns="0" tIns="0" rIns="0" bIns="0" rtlCol="0" anchor="t">
            <a:normAutofit/>
          </a:bodyPr>
          <a:lstStyle/>
          <a:p>
            <a:pPr indent="0" marL="0">
              <a:buNone/>
            </a:pPr>
            <a:r>
              <a:rPr lang="en-US" sz="1600" b="1" dirty="0">
                <a:solidFill>
                  <a:srgbClr val="0B3A57"/>
                </a:solidFill>
                <a:latin typeface="Source Serif 4" pitchFamily="34" charset="0"/>
                <a:ea typeface="Source Serif 4" pitchFamily="34" charset="-122"/>
                <a:cs typeface="Source Serif 4" pitchFamily="34" charset="-120"/>
              </a:rPr>
              <a:t>D2 + D3 · One thing, low effort</a:t>
            </a:r>
            <a:endParaRPr lang="en-US" sz="1600" dirty="0"/>
          </a:p>
        </p:txBody>
      </p:sp>
      <p:sp>
        <p:nvSpPr>
          <p:cNvPr id="15" name="Text 13"/>
          <p:cNvSpPr/>
          <p:nvPr/>
        </p:nvSpPr>
        <p:spPr>
          <a:xfrm>
            <a:off x="660654" y="3483991"/>
            <a:ext cx="3294278" cy="485902"/>
          </a:xfrm>
          <a:prstGeom prst="rect">
            <a:avLst/>
          </a:prstGeom>
          <a:noFill/>
          <a:ln/>
        </p:spPr>
        <p:txBody>
          <a:bodyPr wrap="square" lIns="0" tIns="0" rIns="0" bIns="0" rtlCol="0" anchor="t">
            <a:normAutofit/>
          </a:bodyPr>
          <a:lstStyle/>
          <a:p>
            <a:pPr indent="0" marL="0">
              <a:buNone/>
            </a:pPr>
            <a:r>
              <a:rPr lang="en-US" sz="1300" dirty="0">
                <a:solidFill>
                  <a:srgbClr val="34495A"/>
                </a:solidFill>
                <a:latin typeface="Inter" pitchFamily="34" charset="0"/>
                <a:ea typeface="Inter" pitchFamily="34" charset="-122"/>
                <a:cs typeface="Inter" pitchFamily="34" charset="-120"/>
              </a:rPr>
              <a:t>One action per screen. No typing to do the skill.</a:t>
            </a:r>
            <a:endParaRPr lang="en-US" sz="1300" dirty="0"/>
          </a:p>
        </p:txBody>
      </p:sp>
      <p:sp>
        <p:nvSpPr>
          <p:cNvPr id="16" name="Shape 14"/>
          <p:cNvSpPr/>
          <p:nvPr/>
        </p:nvSpPr>
        <p:spPr>
          <a:xfrm>
            <a:off x="4302404" y="3010535"/>
            <a:ext cx="3586886" cy="1151382"/>
          </a:xfrm>
          <a:prstGeom prst="roundRect">
            <a:avLst>
              <a:gd name="adj" fmla="val 6353"/>
            </a:avLst>
          </a:prstGeom>
          <a:solidFill>
            <a:srgbClr val="E9F4F9"/>
          </a:solidFill>
          <a:ln w="9525">
            <a:solidFill>
              <a:srgbClr val="E9F4F9">
                <a:alpha val="0"/>
              </a:srgbClr>
            </a:solidFill>
            <a:prstDash val="solid"/>
          </a:ln>
        </p:spPr>
      </p:sp>
      <p:sp>
        <p:nvSpPr>
          <p:cNvPr id="17" name="Text 15"/>
          <p:cNvSpPr/>
          <p:nvPr/>
        </p:nvSpPr>
        <p:spPr>
          <a:xfrm>
            <a:off x="4448708" y="3156839"/>
            <a:ext cx="3294278" cy="327152"/>
          </a:xfrm>
          <a:prstGeom prst="rect">
            <a:avLst/>
          </a:prstGeom>
          <a:noFill/>
          <a:ln/>
        </p:spPr>
        <p:txBody>
          <a:bodyPr wrap="square" lIns="0" tIns="0" rIns="0" bIns="0" rtlCol="0" anchor="t">
            <a:normAutofit/>
          </a:bodyPr>
          <a:lstStyle/>
          <a:p>
            <a:pPr indent="0" marL="0">
              <a:buNone/>
            </a:pPr>
            <a:r>
              <a:rPr lang="en-US" sz="1600" b="1" dirty="0">
                <a:solidFill>
                  <a:srgbClr val="0B3A57"/>
                </a:solidFill>
                <a:latin typeface="Source Serif 4" pitchFamily="34" charset="0"/>
                <a:ea typeface="Source Serif 4" pitchFamily="34" charset="-122"/>
                <a:cs typeface="Source Serif 4" pitchFamily="34" charset="-120"/>
              </a:rPr>
              <a:t>D6 · Calm, not cheerful</a:t>
            </a:r>
            <a:endParaRPr lang="en-US" sz="1600" dirty="0"/>
          </a:p>
        </p:txBody>
      </p:sp>
      <p:sp>
        <p:nvSpPr>
          <p:cNvPr id="18" name="Text 16"/>
          <p:cNvSpPr/>
          <p:nvPr/>
        </p:nvSpPr>
        <p:spPr>
          <a:xfrm>
            <a:off x="4448708" y="3483991"/>
            <a:ext cx="3294278" cy="485902"/>
          </a:xfrm>
          <a:prstGeom prst="rect">
            <a:avLst/>
          </a:prstGeom>
          <a:noFill/>
          <a:ln/>
        </p:spPr>
        <p:txBody>
          <a:bodyPr wrap="square" lIns="0" tIns="0" rIns="0" bIns="0" rtlCol="0" anchor="t">
            <a:normAutofit/>
          </a:bodyPr>
          <a:lstStyle/>
          <a:p>
            <a:pPr indent="0" marL="0">
              <a:buNone/>
            </a:pPr>
            <a:r>
              <a:rPr lang="en-US" sz="1300" dirty="0">
                <a:solidFill>
                  <a:srgbClr val="34495A"/>
                </a:solidFill>
                <a:latin typeface="Inter" pitchFamily="34" charset="0"/>
                <a:ea typeface="Inter" pitchFamily="34" charset="-122"/>
                <a:cs typeface="Inter" pitchFamily="34" charset="-120"/>
              </a:rPr>
              <a:t>Soft colors, slow motion, plain words, no praise.</a:t>
            </a:r>
            <a:endParaRPr lang="en-US" sz="1300" dirty="0"/>
          </a:p>
        </p:txBody>
      </p:sp>
      <p:sp>
        <p:nvSpPr>
          <p:cNvPr id="19" name="Shape 17"/>
          <p:cNvSpPr/>
          <p:nvPr/>
        </p:nvSpPr>
        <p:spPr>
          <a:xfrm>
            <a:off x="8090459" y="3010535"/>
            <a:ext cx="3586886" cy="945007"/>
          </a:xfrm>
          <a:prstGeom prst="roundRect">
            <a:avLst>
              <a:gd name="adj" fmla="val 7741"/>
            </a:avLst>
          </a:prstGeom>
          <a:solidFill>
            <a:srgbClr val="E9F4F9"/>
          </a:solidFill>
          <a:ln w="9525">
            <a:solidFill>
              <a:srgbClr val="E9F4F9">
                <a:alpha val="0"/>
              </a:srgbClr>
            </a:solidFill>
            <a:prstDash val="solid"/>
          </a:ln>
        </p:spPr>
      </p:sp>
      <p:sp>
        <p:nvSpPr>
          <p:cNvPr id="20" name="Text 18"/>
          <p:cNvSpPr/>
          <p:nvPr/>
        </p:nvSpPr>
        <p:spPr>
          <a:xfrm>
            <a:off x="8236763" y="3156839"/>
            <a:ext cx="3294278" cy="327152"/>
          </a:xfrm>
          <a:prstGeom prst="rect">
            <a:avLst/>
          </a:prstGeom>
          <a:noFill/>
          <a:ln/>
        </p:spPr>
        <p:txBody>
          <a:bodyPr wrap="square" lIns="0" tIns="0" rIns="0" bIns="0" rtlCol="0" anchor="t">
            <a:normAutofit/>
          </a:bodyPr>
          <a:lstStyle/>
          <a:p>
            <a:pPr indent="0" marL="0">
              <a:buNone/>
            </a:pPr>
            <a:r>
              <a:rPr lang="en-US" sz="1600" b="1" dirty="0">
                <a:solidFill>
                  <a:srgbClr val="0B3A57"/>
                </a:solidFill>
                <a:latin typeface="Source Serif 4" pitchFamily="34" charset="0"/>
                <a:ea typeface="Source Serif 4" pitchFamily="34" charset="-122"/>
                <a:cs typeface="Source Serif 4" pitchFamily="34" charset="-120"/>
              </a:rPr>
              <a:t>R4 · Alex decides</a:t>
            </a:r>
            <a:endParaRPr lang="en-US" sz="1600" dirty="0"/>
          </a:p>
        </p:txBody>
      </p:sp>
      <p:sp>
        <p:nvSpPr>
          <p:cNvPr id="21" name="Text 19"/>
          <p:cNvSpPr/>
          <p:nvPr/>
        </p:nvSpPr>
        <p:spPr>
          <a:xfrm>
            <a:off x="8236763" y="3483991"/>
            <a:ext cx="3294278" cy="279527"/>
          </a:xfrm>
          <a:prstGeom prst="rect">
            <a:avLst/>
          </a:prstGeom>
          <a:noFill/>
          <a:ln/>
        </p:spPr>
        <p:txBody>
          <a:bodyPr wrap="square" lIns="0" tIns="0" rIns="0" bIns="0" rtlCol="0" anchor="t">
            <a:normAutofit/>
          </a:bodyPr>
          <a:lstStyle/>
          <a:p>
            <a:pPr indent="0" marL="0">
              <a:buNone/>
            </a:pPr>
            <a:r>
              <a:rPr lang="en-US" sz="1300" dirty="0">
                <a:solidFill>
                  <a:srgbClr val="34495A"/>
                </a:solidFill>
                <a:latin typeface="Inter" pitchFamily="34" charset="0"/>
                <a:ea typeface="Inter" pitchFamily="34" charset="-122"/>
                <a:cs typeface="Inter" pitchFamily="34" charset="-120"/>
              </a:rPr>
              <a:t>Options are offered, never forced.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27778" r="27778" t="0" b="0"/>
          <a:stretch/>
        </p:blipFill>
        <p:spPr>
          <a:xfrm>
            <a:off x="7315017" y="0"/>
            <a:ext cx="4876678" cy="6858000"/>
          </a:xfrm>
          <a:prstGeom prst="rect">
            <a:avLst/>
          </a:prstGeom>
        </p:spPr>
      </p:pic>
      <p:sp>
        <p:nvSpPr>
          <p:cNvPr id="3" name="Text 0"/>
          <p:cNvSpPr/>
          <p:nvPr/>
        </p:nvSpPr>
        <p:spPr>
          <a:xfrm>
            <a:off x="514350" y="514350"/>
            <a:ext cx="6286317" cy="1152652"/>
          </a:xfrm>
          <a:prstGeom prst="rect">
            <a:avLst/>
          </a:prstGeom>
          <a:noFill/>
          <a:ln/>
        </p:spPr>
        <p:txBody>
          <a:bodyPr wrap="square" lIns="0" tIns="0" rIns="0" bIns="0" rtlCol="0" anchor="t">
            <a:normAutofit/>
          </a:bodyPr>
          <a:lstStyle/>
          <a:p>
            <a:pPr algn="l" indent="0" marL="0">
              <a:buNone/>
            </a:pPr>
            <a:r>
              <a:rPr lang="en-US" sz="3400" b="1" dirty="0">
                <a:solidFill>
                  <a:srgbClr val="0B3A57"/>
                </a:solidFill>
                <a:latin typeface="Source Serif 4" pitchFamily="34" charset="0"/>
                <a:ea typeface="Source Serif 4" pitchFamily="34" charset="-122"/>
                <a:cs typeface="Source Serif 4" pitchFamily="34" charset="-120"/>
              </a:rPr>
              <a:t>Support is always one tap away</a:t>
            </a:r>
            <a:endParaRPr lang="en-US" sz="3400" dirty="0"/>
          </a:p>
        </p:txBody>
      </p:sp>
      <p:sp>
        <p:nvSpPr>
          <p:cNvPr id="4" name="Text 1"/>
          <p:cNvSpPr/>
          <p:nvPr/>
        </p:nvSpPr>
        <p:spPr>
          <a:xfrm>
            <a:off x="514350" y="1776730"/>
            <a:ext cx="6286317" cy="1776222"/>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34495A"/>
                </a:solidFill>
                <a:latin typeface="Inter" pitchFamily="34" charset="0"/>
                <a:ea typeface="Inter" pitchFamily="34" charset="-122"/>
                <a:cs typeface="Inter" pitchFamily="34" charset="-120"/>
              </a:rPr>
              <a:t>In the top bar of </a:t>
            </a:r>
            <a:pPr indent="0" marL="0">
              <a:spcAft>
                <a:spcPts val="400"/>
              </a:spcAft>
              <a:buNone/>
            </a:pPr>
            <a:r>
              <a:rPr lang="en-US" sz="1500" b="1" dirty="0">
                <a:solidFill>
                  <a:srgbClr val="34495A"/>
                </a:solidFill>
                <a:latin typeface="Inter" pitchFamily="34" charset="0"/>
                <a:ea typeface="Inter" pitchFamily="34" charset="-122"/>
                <a:cs typeface="Inter" pitchFamily="34" charset="-120"/>
              </a:rPr>
              <a:t>every</a:t>
            </a:r>
            <a:pPr indent="0" marL="0">
              <a:spcAft>
                <a:spcPts val="400"/>
              </a:spcAft>
              <a:buNone/>
            </a:pPr>
            <a:r>
              <a:rPr lang="en-US" sz="1500" dirty="0">
                <a:solidFill>
                  <a:srgbClr val="34495A"/>
                </a:solidFill>
                <a:latin typeface="Inter" pitchFamily="34" charset="0"/>
                <a:ea typeface="Inter" pitchFamily="34" charset="-122"/>
                <a:cs typeface="Inter" pitchFamily="34" charset="-120"/>
              </a:rPr>
              <a:t> screen, including inside the exercise</a:t>
            </a:r>
            <a:endParaRPr lang="en-US" sz="1500" dirty="0"/>
          </a:p>
          <a:p>
            <a:pPr marL="342900" indent="-342900">
              <a:spcAft>
                <a:spcPts val="400"/>
              </a:spcAft>
              <a:buSzPct val="100000"/>
              <a:buChar char="•"/>
            </a:pPr>
            <a:r>
              <a:rPr lang="en-US" sz="1500" dirty="0">
                <a:solidFill>
                  <a:srgbClr val="34495A"/>
                </a:solidFill>
                <a:latin typeface="Inter" pitchFamily="34" charset="0"/>
                <a:ea typeface="Inter" pitchFamily="34" charset="-122"/>
                <a:cs typeface="Inter" pitchFamily="34" charset="-120"/>
              </a:rPr>
              <a:t>Static content that ships with the page: works when the AI or the backend is down</a:t>
            </a:r>
            <a:endParaRPr lang="en-US" sz="1500" dirty="0"/>
          </a:p>
          <a:p>
            <a:pPr marL="342900" indent="-342900">
              <a:spcAft>
                <a:spcPts val="400"/>
              </a:spcAft>
              <a:buSzPct val="100000"/>
              <a:buChar char="•"/>
            </a:pPr>
            <a:r>
              <a:rPr lang="en-US" sz="1500" dirty="0">
                <a:solidFill>
                  <a:srgbClr val="34495A"/>
                </a:solidFill>
                <a:latin typeface="Inter" pitchFamily="34" charset="0"/>
                <a:ea typeface="Inter" pitchFamily="34" charset="-122"/>
                <a:cs typeface="Inter" pitchFamily="34" charset="-120"/>
              </a:rPr>
              <a:t>Pauses the exercise until Alex chooses Resume</a:t>
            </a:r>
            <a:endParaRPr lang="en-US" sz="1500" dirty="0"/>
          </a:p>
          <a:p>
            <a:pPr marL="342900" indent="-342900">
              <a:spcAft>
                <a:spcPts val="400"/>
              </a:spcAft>
              <a:buSzPct val="100000"/>
              <a:buChar char="•"/>
            </a:pPr>
            <a:r>
              <a:rPr lang="en-US" sz="1500" dirty="0">
                <a:solidFill>
                  <a:srgbClr val="34495A"/>
                </a:solidFill>
                <a:latin typeface="Inter" pitchFamily="34" charset="0"/>
                <a:ea typeface="Inter" pitchFamily="34" charset="-122"/>
                <a:cs typeface="Inter" pitchFamily="34" charset="-120"/>
              </a:rPr>
              <a:t>Numbers checked against official sources: 988, Crisis Text Line, Penn State Crisis Line, 911</a:t>
            </a:r>
            <a:endParaRPr lang="en-US" sz="1500" dirty="0"/>
          </a:p>
          <a:p>
            <a:pPr marL="342900" indent="-342900">
              <a:spcAft>
                <a:spcPts val="400"/>
              </a:spcAft>
              <a:buSzPct val="100000"/>
              <a:buChar char="•"/>
            </a:pPr>
            <a:r>
              <a:rPr lang="en-US" sz="1500" dirty="0">
                <a:solidFill>
                  <a:srgbClr val="34495A"/>
                </a:solidFill>
                <a:latin typeface="Inter" pitchFamily="34" charset="0"/>
                <a:ea typeface="Inter" pitchFamily="34" charset="-122"/>
                <a:cs typeface="Inter" pitchFamily="34" charset="-120"/>
              </a:rPr>
              <a:t>Opening it is </a:t>
            </a:r>
            <a:pPr indent="0" marL="0">
              <a:spcAft>
                <a:spcPts val="400"/>
              </a:spcAft>
              <a:buNone/>
            </a:pPr>
            <a:r>
              <a:rPr lang="en-US" sz="1500" b="1" dirty="0">
                <a:solidFill>
                  <a:srgbClr val="34495A"/>
                </a:solidFill>
                <a:latin typeface="Inter" pitchFamily="34" charset="0"/>
                <a:ea typeface="Inter" pitchFamily="34" charset="-122"/>
                <a:cs typeface="Inter" pitchFamily="34" charset="-120"/>
              </a:rPr>
              <a:t>not</a:t>
            </a:r>
            <a:pPr indent="0" marL="0">
              <a:spcAft>
                <a:spcPts val="400"/>
              </a:spcAft>
              <a:buNone/>
            </a:pPr>
            <a:r>
              <a:rPr lang="en-US" sz="1500" dirty="0">
                <a:solidFill>
                  <a:srgbClr val="34495A"/>
                </a:solidFill>
                <a:latin typeface="Inter" pitchFamily="34" charset="0"/>
                <a:ea typeface="Inter" pitchFamily="34" charset="-122"/>
                <a:cs typeface="Inter" pitchFamily="34" charset="-120"/>
              </a:rPr>
              <a:t> recorded, so nobody is watching</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27778" r="27778" t="0" b="0"/>
          <a:stretch/>
        </p:blipFill>
        <p:spPr>
          <a:xfrm>
            <a:off x="7315017" y="0"/>
            <a:ext cx="4876678" cy="6858000"/>
          </a:xfrm>
          <a:prstGeom prst="rect">
            <a:avLst/>
          </a:prstGeom>
        </p:spPr>
      </p:pic>
      <p:sp>
        <p:nvSpPr>
          <p:cNvPr id="3" name="Text 0"/>
          <p:cNvSpPr/>
          <p:nvPr/>
        </p:nvSpPr>
        <p:spPr>
          <a:xfrm>
            <a:off x="514350" y="514350"/>
            <a:ext cx="6286317" cy="612902"/>
          </a:xfrm>
          <a:prstGeom prst="rect">
            <a:avLst/>
          </a:prstGeom>
          <a:noFill/>
          <a:ln/>
        </p:spPr>
        <p:txBody>
          <a:bodyPr wrap="square" lIns="0" tIns="0" rIns="0" bIns="0" rtlCol="0" anchor="t">
            <a:normAutofit/>
          </a:bodyPr>
          <a:lstStyle/>
          <a:p>
            <a:pPr algn="l" indent="0" marL="0">
              <a:buNone/>
            </a:pPr>
            <a:r>
              <a:rPr lang="en-US" sz="3400" b="1" dirty="0">
                <a:solidFill>
                  <a:srgbClr val="0B3A57"/>
                </a:solidFill>
                <a:latin typeface="Source Serif 4" pitchFamily="34" charset="0"/>
                <a:ea typeface="Source Serif 4" pitchFamily="34" charset="-122"/>
                <a:cs typeface="Source Serif 4" pitchFamily="34" charset="-120"/>
              </a:rPr>
              <a:t>Stopping costs nothing</a:t>
            </a:r>
            <a:endParaRPr lang="en-US" sz="3400" dirty="0"/>
          </a:p>
        </p:txBody>
      </p:sp>
      <p:sp>
        <p:nvSpPr>
          <p:cNvPr id="4" name="Text 1"/>
          <p:cNvSpPr/>
          <p:nvPr/>
        </p:nvSpPr>
        <p:spPr>
          <a:xfrm>
            <a:off x="514350" y="1236980"/>
            <a:ext cx="6286317" cy="549402"/>
          </a:xfrm>
          <a:prstGeom prst="rect">
            <a:avLst/>
          </a:prstGeom>
          <a:noFill/>
          <a:ln/>
        </p:spPr>
        <p:txBody>
          <a:bodyPr wrap="square" lIns="0" tIns="0" rIns="0" bIns="0" rtlCol="0" anchor="t">
            <a:normAutofit/>
          </a:bodyPr>
          <a:lstStyle/>
          <a:p>
            <a:pPr algn="l" indent="0" marL="0">
              <a:buNone/>
            </a:pPr>
            <a:r>
              <a:rPr lang="en-US" sz="1500" dirty="0">
                <a:solidFill>
                  <a:srgbClr val="34495A"/>
                </a:solidFill>
                <a:latin typeface="Inter" pitchFamily="34" charset="0"/>
                <a:ea typeface="Inter" pitchFamily="34" charset="-122"/>
                <a:cs typeface="Inter" pitchFamily="34" charset="-120"/>
              </a:rPr>
              <a:t>Stop works at every moment. The app says so plainly and moves on.</a:t>
            </a:r>
            <a:endParaRPr lang="en-US" sz="1500" dirty="0"/>
          </a:p>
        </p:txBody>
      </p:sp>
      <p:sp>
        <p:nvSpPr>
          <p:cNvPr id="5" name="Text 2"/>
          <p:cNvSpPr/>
          <p:nvPr/>
        </p:nvSpPr>
        <p:spPr>
          <a:xfrm>
            <a:off x="514350" y="1896110"/>
            <a:ext cx="6286317" cy="952119"/>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34495A"/>
                </a:solidFill>
                <a:latin typeface="Inter" pitchFamily="34" charset="0"/>
                <a:ea typeface="Inter" pitchFamily="34" charset="-122"/>
                <a:cs typeface="Inter" pitchFamily="34" charset="-120"/>
              </a:rPr>
              <a:t>Saved as </a:t>
            </a:r>
            <a:pPr indent="0" marL="0">
              <a:spcAft>
                <a:spcPts val="400"/>
              </a:spcAft>
              <a:buNone/>
            </a:pPr>
            <a:r>
              <a:rPr lang="en-US" sz="1500" b="1" dirty="0">
                <a:solidFill>
                  <a:srgbClr val="34495A"/>
                </a:solidFill>
                <a:latin typeface="Inter" pitchFamily="34" charset="0"/>
                <a:ea typeface="Inter" pitchFamily="34" charset="-122"/>
                <a:cs typeface="Inter" pitchFamily="34" charset="-120"/>
              </a:rPr>
              <a:t>stopped</a:t>
            </a:r>
            <a:pPr indent="0" marL="0">
              <a:spcAft>
                <a:spcPts val="400"/>
              </a:spcAft>
              <a:buNone/>
            </a:pPr>
            <a:r>
              <a:rPr lang="en-US" sz="1500" dirty="0">
                <a:solidFill>
                  <a:srgbClr val="34495A"/>
                </a:solidFill>
                <a:latin typeface="Inter" pitchFamily="34" charset="0"/>
                <a:ea typeface="Inter" pitchFamily="34" charset="-122"/>
                <a:cs typeface="Inter" pitchFamily="34" charset="-120"/>
              </a:rPr>
              <a:t>, with the breaths done</a:t>
            </a:r>
            <a:endParaRPr lang="en-US" sz="1500" dirty="0"/>
          </a:p>
          <a:p>
            <a:pPr marL="342900" indent="-342900">
              <a:spcAft>
                <a:spcPts val="400"/>
              </a:spcAft>
              <a:buSzPct val="100000"/>
              <a:buChar char="•"/>
            </a:pPr>
            <a:r>
              <a:rPr lang="en-US" sz="1500" dirty="0">
                <a:solidFill>
                  <a:srgbClr val="34495A"/>
                </a:solidFill>
                <a:latin typeface="Inter" pitchFamily="34" charset="0"/>
                <a:ea typeface="Inter" pitchFamily="34" charset="-122"/>
                <a:cs typeface="Inter" pitchFamily="34" charset="-120"/>
              </a:rPr>
              <a:t>Never counted against Alex, never a streak to break</a:t>
            </a:r>
            <a:endParaRPr lang="en-US" sz="1500" dirty="0"/>
          </a:p>
          <a:p>
            <a:pPr marL="342900" indent="-342900">
              <a:spcAft>
                <a:spcPts val="400"/>
              </a:spcAft>
              <a:buSzPct val="100000"/>
              <a:buChar char="•"/>
            </a:pPr>
            <a:r>
              <a:rPr lang="en-US" sz="1500" dirty="0">
                <a:solidFill>
                  <a:srgbClr val="34495A"/>
                </a:solidFill>
                <a:latin typeface="Inter" pitchFamily="34" charset="0"/>
                <a:ea typeface="Inter" pitchFamily="34" charset="-122"/>
                <a:cs typeface="Inter" pitchFamily="34" charset="-120"/>
              </a:rPr>
              <a:t>Start again is one tap</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26112" r="26112" t="0" b="0"/>
          <a:stretch/>
        </p:blipFill>
        <p:spPr>
          <a:xfrm>
            <a:off x="7315017" y="0"/>
            <a:ext cx="4876678" cy="6858000"/>
          </a:xfrm>
          <a:prstGeom prst="rect">
            <a:avLst/>
          </a:prstGeom>
        </p:spPr>
      </p:pic>
      <p:sp>
        <p:nvSpPr>
          <p:cNvPr id="3" name="Text 0"/>
          <p:cNvSpPr/>
          <p:nvPr/>
        </p:nvSpPr>
        <p:spPr>
          <a:xfrm>
            <a:off x="514350" y="514350"/>
            <a:ext cx="6286317" cy="1152652"/>
          </a:xfrm>
          <a:prstGeom prst="rect">
            <a:avLst/>
          </a:prstGeom>
          <a:noFill/>
          <a:ln/>
        </p:spPr>
        <p:txBody>
          <a:bodyPr wrap="square" lIns="0" tIns="0" rIns="0" bIns="0" rtlCol="0" anchor="t">
            <a:normAutofit/>
          </a:bodyPr>
          <a:lstStyle/>
          <a:p>
            <a:pPr algn="l" indent="0" marL="0">
              <a:buNone/>
            </a:pPr>
            <a:r>
              <a:rPr lang="en-US" sz="3400" b="1" dirty="0">
                <a:solidFill>
                  <a:srgbClr val="0B3A57"/>
                </a:solidFill>
                <a:latin typeface="Source Serif 4" pitchFamily="34" charset="0"/>
                <a:ea typeface="Source Serif 4" pitchFamily="34" charset="-122"/>
                <a:cs typeface="Source Serif 4" pitchFamily="34" charset="-120"/>
              </a:rPr>
              <a:t>User state: Alex says, the app adapts</a:t>
            </a:r>
            <a:endParaRPr lang="en-US" sz="3400" dirty="0"/>
          </a:p>
        </p:txBody>
      </p:sp>
      <p:sp>
        <p:nvSpPr>
          <p:cNvPr id="4" name="Text 1"/>
          <p:cNvSpPr/>
          <p:nvPr/>
        </p:nvSpPr>
        <p:spPr>
          <a:xfrm>
            <a:off x="514350" y="1776730"/>
            <a:ext cx="6286317" cy="787527"/>
          </a:xfrm>
          <a:prstGeom prst="rect">
            <a:avLst/>
          </a:prstGeom>
          <a:noFill/>
          <a:ln/>
        </p:spPr>
        <p:txBody>
          <a:bodyPr wrap="square" lIns="0" tIns="0" rIns="0" bIns="0" rtlCol="0" anchor="t">
            <a:normAutofit/>
          </a:bodyPr>
          <a:lstStyle/>
          <a:p>
            <a:pPr algn="l" indent="0" marL="0">
              <a:buNone/>
            </a:pPr>
            <a:r>
              <a:rPr lang="en-US" sz="1500" dirty="0">
                <a:solidFill>
                  <a:srgbClr val="34495A"/>
                </a:solidFill>
                <a:latin typeface="Inter" pitchFamily="34" charset="0"/>
                <a:ea typeface="Inter" pitchFamily="34" charset="-122"/>
                <a:cs typeface="Inter" pitchFamily="34" charset="-120"/>
              </a:rPr>
              <a:t>An optional one-tap check-in on Home: </a:t>
            </a:r>
            <a:pPr algn="l" indent="0" marL="0">
              <a:buNone/>
            </a:pPr>
            <a:r>
              <a:rPr lang="en-US" sz="1500" b="1" dirty="0">
                <a:solidFill>
                  <a:srgbClr val="34495A"/>
                </a:solidFill>
                <a:latin typeface="Inter" pitchFamily="34" charset="0"/>
                <a:ea typeface="Inter" pitchFamily="34" charset="-122"/>
                <a:cs typeface="Inter" pitchFamily="34" charset="-120"/>
              </a:rPr>
              <a:t>"How are you arriving right now?"</a:t>
            </a:r>
            <a:pPr algn="l" indent="0" marL="0">
              <a:buNone/>
            </a:pPr>
            <a:r>
              <a:rPr lang="en-US" sz="1500" dirty="0">
                <a:solidFill>
                  <a:srgbClr val="34495A"/>
                </a:solidFill>
                <a:latin typeface="Inter" pitchFamily="34" charset="0"/>
                <a:ea typeface="Inter" pitchFamily="34" charset="-122"/>
                <a:cs typeface="Inter" pitchFamily="34" charset="-120"/>
              </a:rPr>
              <a:t> Steady, A bit tense, or Overwhelmed. It is Alex's own word; the app never guesses.</a:t>
            </a:r>
            <a:endParaRPr lang="en-US" sz="1500" dirty="0"/>
          </a:p>
        </p:txBody>
      </p:sp>
      <p:sp>
        <p:nvSpPr>
          <p:cNvPr id="5" name="Shape 2"/>
          <p:cNvSpPr/>
          <p:nvPr/>
        </p:nvSpPr>
        <p:spPr>
          <a:xfrm>
            <a:off x="514350" y="2673985"/>
            <a:ext cx="6286317" cy="1151382"/>
          </a:xfrm>
          <a:prstGeom prst="roundRect">
            <a:avLst>
              <a:gd name="adj" fmla="val 6353"/>
            </a:avLst>
          </a:prstGeom>
          <a:solidFill>
            <a:srgbClr val="E9F4F9"/>
          </a:solidFill>
          <a:ln w="9525">
            <a:solidFill>
              <a:srgbClr val="E9F4F9">
                <a:alpha val="0"/>
              </a:srgbClr>
            </a:solidFill>
            <a:prstDash val="solid"/>
          </a:ln>
        </p:spPr>
      </p:sp>
      <p:sp>
        <p:nvSpPr>
          <p:cNvPr id="6" name="Text 3"/>
          <p:cNvSpPr/>
          <p:nvPr/>
        </p:nvSpPr>
        <p:spPr>
          <a:xfrm>
            <a:off x="660654" y="2820289"/>
            <a:ext cx="310896" cy="310896"/>
          </a:xfrm>
          <a:prstGeom prst="ellipse">
            <a:avLst/>
          </a:prstGeom>
          <a:solidFill>
            <a:srgbClr val="0E7CAD"/>
          </a:solid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7" name="Text 4"/>
          <p:cNvSpPr/>
          <p:nvPr/>
        </p:nvSpPr>
        <p:spPr>
          <a:xfrm>
            <a:off x="1072134" y="2820289"/>
            <a:ext cx="5582229" cy="327152"/>
          </a:xfrm>
          <a:prstGeom prst="rect">
            <a:avLst/>
          </a:prstGeom>
          <a:noFill/>
          <a:ln/>
        </p:spPr>
        <p:txBody>
          <a:bodyPr wrap="square" lIns="0" tIns="0" rIns="0" bIns="0" rtlCol="0" anchor="t">
            <a:normAutofit/>
          </a:bodyPr>
          <a:lstStyle/>
          <a:p>
            <a:pPr indent="0" marL="0">
              <a:buNone/>
            </a:pPr>
            <a:r>
              <a:rPr lang="en-US" sz="1600" b="1" dirty="0">
                <a:solidFill>
                  <a:srgbClr val="0B3A57"/>
                </a:solidFill>
                <a:latin typeface="Source Serif 4" pitchFamily="34" charset="0"/>
                <a:ea typeface="Source Serif 4" pitchFamily="34" charset="-122"/>
                <a:cs typeface="Source Serif 4" pitchFamily="34" charset="-120"/>
              </a:rPr>
              <a:t>Overwhelmed</a:t>
            </a:r>
            <a:endParaRPr lang="en-US" sz="1600" dirty="0"/>
          </a:p>
        </p:txBody>
      </p:sp>
      <p:sp>
        <p:nvSpPr>
          <p:cNvPr id="8" name="Text 5"/>
          <p:cNvSpPr/>
          <p:nvPr/>
        </p:nvSpPr>
        <p:spPr>
          <a:xfrm>
            <a:off x="1072134" y="3147441"/>
            <a:ext cx="5582229" cy="485902"/>
          </a:xfrm>
          <a:prstGeom prst="rect">
            <a:avLst/>
          </a:prstGeom>
          <a:noFill/>
          <a:ln/>
        </p:spPr>
        <p:txBody>
          <a:bodyPr wrap="square" lIns="0" tIns="0" rIns="0" bIns="0" rtlCol="0" anchor="t">
            <a:normAutofit/>
          </a:bodyPr>
          <a:lstStyle/>
          <a:p>
            <a:pPr indent="0" marL="0">
              <a:buNone/>
            </a:pPr>
            <a:r>
              <a:rPr lang="en-US" sz="1300" dirty="0">
                <a:solidFill>
                  <a:srgbClr val="34495A"/>
                </a:solidFill>
                <a:latin typeface="Inter" pitchFamily="34" charset="0"/>
                <a:ea typeface="Inter" pitchFamily="34" charset="-122"/>
                <a:cs typeface="Inter" pitchFamily="34" charset="-120"/>
              </a:rPr>
              <a:t>The screen contracts to the title, Start and Support (D1). </a:t>
            </a:r>
            <a:pPr indent="0" marL="0">
              <a:buNone/>
            </a:pPr>
            <a:r>
              <a:rPr lang="en-US" sz="1300" b="1" dirty="0">
                <a:solidFill>
                  <a:srgbClr val="34495A"/>
                </a:solidFill>
                <a:latin typeface="Inter" pitchFamily="34" charset="0"/>
                <a:ea typeface="Inter" pitchFamily="34" charset="-122"/>
                <a:cs typeface="Inter" pitchFamily="34" charset="-120"/>
              </a:rPr>
              <a:t>Show everything</a:t>
            </a:r>
            <a:pPr indent="0" marL="0">
              <a:buNone/>
            </a:pPr>
            <a:r>
              <a:rPr lang="en-US" sz="1300" dirty="0">
                <a:solidFill>
                  <a:srgbClr val="34495A"/>
                </a:solidFill>
                <a:latin typeface="Inter" pitchFamily="34" charset="0"/>
                <a:ea typeface="Inter" pitchFamily="34" charset="-122"/>
                <a:cs typeface="Inter" pitchFamily="34" charset="-120"/>
              </a:rPr>
              <a:t> undoes it.</a:t>
            </a:r>
            <a:endParaRPr lang="en-US" sz="1300" dirty="0"/>
          </a:p>
        </p:txBody>
      </p:sp>
      <p:sp>
        <p:nvSpPr>
          <p:cNvPr id="9" name="Shape 6"/>
          <p:cNvSpPr/>
          <p:nvPr/>
        </p:nvSpPr>
        <p:spPr>
          <a:xfrm>
            <a:off x="514350" y="4026535"/>
            <a:ext cx="6286317" cy="1151382"/>
          </a:xfrm>
          <a:prstGeom prst="roundRect">
            <a:avLst>
              <a:gd name="adj" fmla="val 6353"/>
            </a:avLst>
          </a:prstGeom>
          <a:solidFill>
            <a:srgbClr val="E9F4F9"/>
          </a:solidFill>
          <a:ln w="9525">
            <a:solidFill>
              <a:srgbClr val="E9F4F9">
                <a:alpha val="0"/>
              </a:srgbClr>
            </a:solidFill>
            <a:prstDash val="solid"/>
          </a:ln>
        </p:spPr>
      </p:sp>
      <p:sp>
        <p:nvSpPr>
          <p:cNvPr id="10" name="Text 7"/>
          <p:cNvSpPr/>
          <p:nvPr/>
        </p:nvSpPr>
        <p:spPr>
          <a:xfrm>
            <a:off x="660654" y="4172839"/>
            <a:ext cx="310896" cy="310896"/>
          </a:xfrm>
          <a:prstGeom prst="ellipse">
            <a:avLst/>
          </a:prstGeom>
          <a:solidFill>
            <a:srgbClr val="0E7CAD"/>
          </a:solid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11" name="Text 8"/>
          <p:cNvSpPr/>
          <p:nvPr/>
        </p:nvSpPr>
        <p:spPr>
          <a:xfrm>
            <a:off x="1072134" y="4172839"/>
            <a:ext cx="5582229" cy="327152"/>
          </a:xfrm>
          <a:prstGeom prst="rect">
            <a:avLst/>
          </a:prstGeom>
          <a:noFill/>
          <a:ln/>
        </p:spPr>
        <p:txBody>
          <a:bodyPr wrap="square" lIns="0" tIns="0" rIns="0" bIns="0" rtlCol="0" anchor="t">
            <a:normAutofit/>
          </a:bodyPr>
          <a:lstStyle/>
          <a:p>
            <a:pPr indent="0" marL="0">
              <a:buNone/>
            </a:pPr>
            <a:r>
              <a:rPr lang="en-US" sz="1600" b="1" dirty="0">
                <a:solidFill>
                  <a:srgbClr val="0B3A57"/>
                </a:solidFill>
                <a:latin typeface="Source Serif 4" pitchFamily="34" charset="0"/>
                <a:ea typeface="Source Serif 4" pitchFamily="34" charset="-122"/>
                <a:cs typeface="Source Serif 4" pitchFamily="34" charset="-120"/>
              </a:rPr>
              <a:t>A bit tense</a:t>
            </a:r>
            <a:endParaRPr lang="en-US" sz="1600" dirty="0"/>
          </a:p>
        </p:txBody>
      </p:sp>
      <p:sp>
        <p:nvSpPr>
          <p:cNvPr id="12" name="Text 9"/>
          <p:cNvSpPr/>
          <p:nvPr/>
        </p:nvSpPr>
        <p:spPr>
          <a:xfrm>
            <a:off x="1072134" y="4499991"/>
            <a:ext cx="5582229" cy="485902"/>
          </a:xfrm>
          <a:prstGeom prst="rect">
            <a:avLst/>
          </a:prstGeom>
          <a:noFill/>
          <a:ln/>
        </p:spPr>
        <p:txBody>
          <a:bodyPr wrap="square" lIns="0" tIns="0" rIns="0" bIns="0" rtlCol="0" anchor="t">
            <a:normAutofit/>
          </a:bodyPr>
          <a:lstStyle/>
          <a:p>
            <a:pPr indent="0" marL="0">
              <a:buNone/>
            </a:pPr>
            <a:r>
              <a:rPr lang="en-US" sz="1300" dirty="0">
                <a:solidFill>
                  <a:srgbClr val="34495A"/>
                </a:solidFill>
                <a:latin typeface="Inter" pitchFamily="34" charset="0"/>
                <a:ea typeface="Inter" pitchFamily="34" charset="-122"/>
                <a:cs typeface="Inter" pitchFamily="34" charset="-120"/>
              </a:rPr>
              <a:t>Length is set to 6 breaths, the shortest (R1). </a:t>
            </a:r>
            <a:pPr indent="0" marL="0">
              <a:buNone/>
            </a:pPr>
            <a:r>
              <a:rPr lang="en-US" sz="1300" b="1" dirty="0">
                <a:solidFill>
                  <a:srgbClr val="34495A"/>
                </a:solidFill>
                <a:latin typeface="Inter" pitchFamily="34" charset="0"/>
                <a:ea typeface="Inter" pitchFamily="34" charset="-122"/>
                <a:cs typeface="Inter" pitchFamily="34" charset="-120"/>
              </a:rPr>
              <a:t>Use 8 instead</a:t>
            </a:r>
            <a:pPr indent="0" marL="0">
              <a:buNone/>
            </a:pPr>
            <a:r>
              <a:rPr lang="en-US" sz="1300" dirty="0">
                <a:solidFill>
                  <a:srgbClr val="34495A"/>
                </a:solidFill>
                <a:latin typeface="Inter" pitchFamily="34" charset="0"/>
                <a:ea typeface="Inter" pitchFamily="34" charset="-122"/>
                <a:cs typeface="Inter" pitchFamily="34" charset="-120"/>
              </a:rPr>
              <a:t> overrides it.</a:t>
            </a:r>
            <a:endParaRPr lang="en-US" sz="1300" dirty="0"/>
          </a:p>
        </p:txBody>
      </p:sp>
      <p:sp>
        <p:nvSpPr>
          <p:cNvPr id="13" name="Shape 10"/>
          <p:cNvSpPr/>
          <p:nvPr/>
        </p:nvSpPr>
        <p:spPr>
          <a:xfrm>
            <a:off x="514350" y="5379085"/>
            <a:ext cx="6286317" cy="945007"/>
          </a:xfrm>
          <a:prstGeom prst="roundRect">
            <a:avLst>
              <a:gd name="adj" fmla="val 7741"/>
            </a:avLst>
          </a:prstGeom>
          <a:solidFill>
            <a:srgbClr val="E9F4F9"/>
          </a:solidFill>
          <a:ln w="9525">
            <a:solidFill>
              <a:srgbClr val="E9F4F9">
                <a:alpha val="0"/>
              </a:srgbClr>
            </a:solidFill>
            <a:prstDash val="solid"/>
          </a:ln>
        </p:spPr>
      </p:sp>
      <p:sp>
        <p:nvSpPr>
          <p:cNvPr id="14" name="Text 11"/>
          <p:cNvSpPr/>
          <p:nvPr/>
        </p:nvSpPr>
        <p:spPr>
          <a:xfrm>
            <a:off x="660654" y="5525389"/>
            <a:ext cx="310896" cy="310896"/>
          </a:xfrm>
          <a:prstGeom prst="ellipse">
            <a:avLst/>
          </a:prstGeom>
          <a:solidFill>
            <a:srgbClr val="0E7CAD"/>
          </a:solid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15" name="Text 12"/>
          <p:cNvSpPr/>
          <p:nvPr/>
        </p:nvSpPr>
        <p:spPr>
          <a:xfrm>
            <a:off x="1072134" y="5525389"/>
            <a:ext cx="5582229" cy="327152"/>
          </a:xfrm>
          <a:prstGeom prst="rect">
            <a:avLst/>
          </a:prstGeom>
          <a:noFill/>
          <a:ln/>
        </p:spPr>
        <p:txBody>
          <a:bodyPr wrap="square" lIns="0" tIns="0" rIns="0" bIns="0" rtlCol="0" anchor="t">
            <a:normAutofit/>
          </a:bodyPr>
          <a:lstStyle/>
          <a:p>
            <a:pPr indent="0" marL="0">
              <a:buNone/>
            </a:pPr>
            <a:r>
              <a:rPr lang="en-US" sz="1600" b="1" dirty="0">
                <a:solidFill>
                  <a:srgbClr val="0B3A57"/>
                </a:solidFill>
                <a:latin typeface="Source Serif 4" pitchFamily="34" charset="0"/>
                <a:ea typeface="Source Serif 4" pitchFamily="34" charset="-122"/>
                <a:cs typeface="Source Serif 4" pitchFamily="34" charset="-120"/>
              </a:rPr>
              <a:t>Steady</a:t>
            </a:r>
            <a:endParaRPr lang="en-US" sz="1600" dirty="0"/>
          </a:p>
        </p:txBody>
      </p:sp>
      <p:sp>
        <p:nvSpPr>
          <p:cNvPr id="16" name="Text 13"/>
          <p:cNvSpPr/>
          <p:nvPr/>
        </p:nvSpPr>
        <p:spPr>
          <a:xfrm>
            <a:off x="1072134" y="5852541"/>
            <a:ext cx="5582229" cy="279527"/>
          </a:xfrm>
          <a:prstGeom prst="rect">
            <a:avLst/>
          </a:prstGeom>
          <a:noFill/>
          <a:ln/>
        </p:spPr>
        <p:txBody>
          <a:bodyPr wrap="square" lIns="0" tIns="0" rIns="0" bIns="0" rtlCol="0" anchor="t">
            <a:normAutofit/>
          </a:bodyPr>
          <a:lstStyle/>
          <a:p>
            <a:pPr indent="0" marL="0">
              <a:buNone/>
            </a:pPr>
            <a:r>
              <a:rPr lang="en-US" sz="1300" dirty="0">
                <a:solidFill>
                  <a:srgbClr val="34495A"/>
                </a:solidFill>
                <a:latin typeface="Inter" pitchFamily="34" charset="0"/>
                <a:ea typeface="Inter" pitchFamily="34" charset="-122"/>
                <a:cs typeface="Inter" pitchFamily="34" charset="-120"/>
              </a:rPr>
              <a:t>Offers the longer 8 breaths. Ignoring the offer is fine.</a:t>
            </a:r>
            <a:endParaRPr lang="en-US" sz="1300" dirty="0"/>
          </a:p>
        </p:txBody>
      </p:sp>
      <p:sp>
        <p:nvSpPr>
          <p:cNvPr id="17" name="Text 14"/>
          <p:cNvSpPr/>
          <p:nvPr/>
        </p:nvSpPr>
        <p:spPr>
          <a:xfrm>
            <a:off x="697230" y="6433820"/>
            <a:ext cx="6103437" cy="1152652"/>
          </a:xfrm>
          <a:prstGeom prst="rect">
            <a:avLst/>
          </a:prstGeom>
          <a:noFill/>
          <a:ln/>
        </p:spPr>
        <p:txBody>
          <a:bodyPr wrap="square" lIns="0" tIns="0" rIns="0" bIns="0" rtlCol="0" anchor="t">
            <a:normAutofit/>
          </a:bodyPr>
          <a:lstStyle/>
          <a:p>
            <a:pPr algn="l" indent="0" marL="0">
              <a:buNone/>
            </a:pPr>
            <a:r>
              <a:rPr lang="en-US" sz="1700" i="1" dirty="0">
                <a:solidFill>
                  <a:srgbClr val="34495A"/>
                </a:solidFill>
                <a:latin typeface="Inter" pitchFamily="34" charset="0"/>
                <a:ea typeface="Inter" pitchFamily="34" charset="-122"/>
                <a:cs typeface="Inter" pitchFamily="34" charset="-120"/>
              </a:rPr>
              <a:t>Assumptions: the check-in is optional, never blocks Start or Support, only shapes Home for 6 hours, and "Change" corrects it in one tap. No clinical detector, no sensors, no reading of clicks.</a:t>
            </a:r>
            <a:endParaRPr lang="en-US" sz="1700" dirty="0"/>
          </a:p>
        </p:txBody>
      </p:sp>
      <p:sp>
        <p:nvSpPr>
          <p:cNvPr id="18" name="Shape 15"/>
          <p:cNvSpPr/>
          <p:nvPr/>
        </p:nvSpPr>
        <p:spPr>
          <a:xfrm>
            <a:off x="514350" y="6433820"/>
            <a:ext cx="54864" cy="1152652"/>
          </a:xfrm>
          <a:prstGeom prst="rect">
            <a:avLst/>
          </a:prstGeom>
          <a:solidFill>
            <a:srgbClr val="0E7CAD"/>
          </a:solidFill>
          <a:ln w="12700">
            <a:solidFill>
              <a:srgbClr val="0E7CAD"/>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26112" r="26112" t="0" b="0"/>
          <a:stretch/>
        </p:blipFill>
        <p:spPr>
          <a:xfrm>
            <a:off x="7315017" y="0"/>
            <a:ext cx="4876678" cy="6858000"/>
          </a:xfrm>
          <a:prstGeom prst="rect">
            <a:avLst/>
          </a:prstGeom>
        </p:spPr>
      </p:pic>
      <p:sp>
        <p:nvSpPr>
          <p:cNvPr id="3" name="Text 0"/>
          <p:cNvSpPr/>
          <p:nvPr/>
        </p:nvSpPr>
        <p:spPr>
          <a:xfrm>
            <a:off x="514350" y="514350"/>
            <a:ext cx="6286317" cy="1152652"/>
          </a:xfrm>
          <a:prstGeom prst="rect">
            <a:avLst/>
          </a:prstGeom>
          <a:noFill/>
          <a:ln/>
        </p:spPr>
        <p:txBody>
          <a:bodyPr wrap="square" lIns="0" tIns="0" rIns="0" bIns="0" rtlCol="0" anchor="t">
            <a:normAutofit/>
          </a:bodyPr>
          <a:lstStyle/>
          <a:p>
            <a:pPr algn="l" indent="0" marL="0">
              <a:buNone/>
            </a:pPr>
            <a:r>
              <a:rPr lang="en-US" sz="3400" b="1" dirty="0">
                <a:solidFill>
                  <a:srgbClr val="0B3A57"/>
                </a:solidFill>
                <a:latin typeface="Source Serif 4" pitchFamily="34" charset="0"/>
                <a:ea typeface="Source Serif 4" pitchFamily="34" charset="-122"/>
                <a:cs typeface="Source Serif 4" pitchFamily="34" charset="-120"/>
              </a:rPr>
              <a:t>Alex's profile builds up from use</a:t>
            </a:r>
            <a:endParaRPr lang="en-US" sz="3400" dirty="0"/>
          </a:p>
        </p:txBody>
      </p:sp>
      <p:sp>
        <p:nvSpPr>
          <p:cNvPr id="4" name="Text 1"/>
          <p:cNvSpPr/>
          <p:nvPr/>
        </p:nvSpPr>
        <p:spPr>
          <a:xfrm>
            <a:off x="514350" y="1776730"/>
            <a:ext cx="6286317" cy="311277"/>
          </a:xfrm>
          <a:prstGeom prst="rect">
            <a:avLst/>
          </a:prstGeom>
          <a:noFill/>
          <a:ln/>
        </p:spPr>
        <p:txBody>
          <a:bodyPr wrap="square" lIns="0" tIns="0" rIns="0" bIns="0" rtlCol="0" anchor="t">
            <a:normAutofit/>
          </a:bodyPr>
          <a:lstStyle/>
          <a:p>
            <a:pPr algn="l" indent="0" marL="0">
              <a:buNone/>
            </a:pPr>
            <a:r>
              <a:rPr lang="en-US" sz="1500" dirty="0">
                <a:solidFill>
                  <a:srgbClr val="34495A"/>
                </a:solidFill>
                <a:latin typeface="Inter" pitchFamily="34" charset="0"/>
                <a:ea typeface="Inter" pitchFamily="34" charset="-122"/>
                <a:cs typeface="Inter" pitchFamily="34" charset="-120"/>
              </a:rPr>
              <a:t>Nothing to fill in. The profile comes from what Alex does:</a:t>
            </a:r>
            <a:endParaRPr lang="en-US" sz="1500" dirty="0"/>
          </a:p>
        </p:txBody>
      </p:sp>
      <p:sp>
        <p:nvSpPr>
          <p:cNvPr id="5" name="Text 2"/>
          <p:cNvSpPr/>
          <p:nvPr/>
        </p:nvSpPr>
        <p:spPr>
          <a:xfrm>
            <a:off x="514350" y="2197735"/>
            <a:ext cx="6286317" cy="1959483"/>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b="1" dirty="0">
                <a:solidFill>
                  <a:srgbClr val="34495A"/>
                </a:solidFill>
                <a:latin typeface="Inter" pitchFamily="34" charset="0"/>
                <a:ea typeface="Inter" pitchFamily="34" charset="-122"/>
                <a:cs typeface="Inter" pitchFamily="34" charset="-120"/>
              </a:rPr>
              <a:t>Your usual:</a:t>
            </a:r>
            <a:pPr indent="0" marL="0">
              <a:spcAft>
                <a:spcPts val="400"/>
              </a:spcAft>
              <a:buNone/>
            </a:pPr>
            <a:r>
              <a:rPr lang="en-US" sz="1500" dirty="0">
                <a:solidFill>
                  <a:srgbClr val="34495A"/>
                </a:solidFill>
                <a:latin typeface="Inter" pitchFamily="34" charset="0"/>
                <a:ea typeface="Inter" pitchFamily="34" charset="-122"/>
                <a:cs typeface="Inter" pitchFamily="34" charset="-120"/>
              </a:rPr>
              <a:t> the most common length and cue over the last 10 sessions. Home starts there and shows a "Your usual" pill; </a:t>
            </a:r>
            <a:pPr indent="0" marL="0">
              <a:spcAft>
                <a:spcPts val="400"/>
              </a:spcAft>
              <a:buNone/>
            </a:pPr>
            <a:r>
              <a:rPr lang="en-US" sz="1500" b="1" dirty="0">
                <a:solidFill>
                  <a:srgbClr val="34495A"/>
                </a:solidFill>
                <a:latin typeface="Inter" pitchFamily="34" charset="0"/>
                <a:ea typeface="Inter" pitchFamily="34" charset="-122"/>
                <a:cs typeface="Inter" pitchFamily="34" charset="-120"/>
              </a:rPr>
              <a:t>Change</a:t>
            </a:r>
            <a:pPr indent="0" marL="0">
              <a:spcAft>
                <a:spcPts val="400"/>
              </a:spcAft>
              <a:buNone/>
            </a:pPr>
            <a:r>
              <a:rPr lang="en-US" sz="1500" dirty="0">
                <a:solidFill>
                  <a:srgbClr val="34495A"/>
                </a:solidFill>
                <a:latin typeface="Inter" pitchFamily="34" charset="0"/>
                <a:ea typeface="Inter" pitchFamily="34" charset="-122"/>
                <a:cs typeface="Inter" pitchFamily="34" charset="-120"/>
              </a:rPr>
              <a:t> overrides it.</a:t>
            </a:r>
            <a:endParaRPr lang="en-US" sz="1500" dirty="0"/>
          </a:p>
          <a:p>
            <a:pPr marL="342900" indent="-342900">
              <a:spcAft>
                <a:spcPts val="400"/>
              </a:spcAft>
              <a:buSzPct val="100000"/>
              <a:buChar char="•"/>
            </a:pPr>
            <a:r>
              <a:rPr lang="en-US" sz="1500" b="1" dirty="0">
                <a:solidFill>
                  <a:srgbClr val="34495A"/>
                </a:solidFill>
                <a:latin typeface="Inter" pitchFamily="34" charset="0"/>
                <a:ea typeface="Inter" pitchFamily="34" charset="-122"/>
                <a:cs typeface="Inter" pitchFamily="34" charset="-120"/>
              </a:rPr>
              <a:t>Updated every time:</a:t>
            </a:r>
            <a:pPr indent="0" marL="0">
              <a:spcAft>
                <a:spcPts val="400"/>
              </a:spcAft>
              <a:buNone/>
            </a:pPr>
            <a:r>
              <a:rPr lang="en-US" sz="1500" dirty="0">
                <a:solidFill>
                  <a:srgbClr val="34495A"/>
                </a:solidFill>
                <a:latin typeface="Inter" pitchFamily="34" charset="0"/>
                <a:ea typeface="Inter" pitchFamily="34" charset="-122"/>
                <a:cs typeface="Inter" pitchFamily="34" charset="-120"/>
              </a:rPr>
              <a:t> pressing Start saves the chosen length and cue; finishing or stopping saves the result and measured time.</a:t>
            </a:r>
            <a:endParaRPr lang="en-US" sz="1500" dirty="0"/>
          </a:p>
          <a:p>
            <a:pPr marL="342900" indent="-342900">
              <a:spcAft>
                <a:spcPts val="400"/>
              </a:spcAft>
              <a:buSzPct val="100000"/>
              <a:buChar char="•"/>
            </a:pPr>
            <a:r>
              <a:rPr lang="en-US" sz="1500" b="1" dirty="0">
                <a:solidFill>
                  <a:srgbClr val="34495A"/>
                </a:solidFill>
                <a:latin typeface="Inter" pitchFamily="34" charset="0"/>
                <a:ea typeface="Inter" pitchFamily="34" charset="-122"/>
                <a:cs typeface="Inter" pitchFamily="34" charset="-120"/>
              </a:rPr>
              <a:t>Check-ins</a:t>
            </a:r>
            <a:pPr indent="0" marL="0">
              <a:spcAft>
                <a:spcPts val="400"/>
              </a:spcAft>
              <a:buNone/>
            </a:pPr>
            <a:r>
              <a:rPr lang="en-US" sz="1500" dirty="0">
                <a:solidFill>
                  <a:srgbClr val="34495A"/>
                </a:solidFill>
                <a:latin typeface="Inter" pitchFamily="34" charset="0"/>
                <a:ea typeface="Inter" pitchFamily="34" charset="-122"/>
                <a:cs typeface="Inter" pitchFamily="34" charset="-120"/>
              </a:rPr>
              <a:t> and the optional "How was that?" answer are saved as Alex's own words, never as a score.</a:t>
            </a:r>
            <a:endParaRPr lang="en-US" sz="1500" dirty="0"/>
          </a:p>
          <a:p>
            <a:pPr marL="342900" indent="-342900">
              <a:spcAft>
                <a:spcPts val="400"/>
              </a:spcAft>
              <a:buSzPct val="100000"/>
              <a:buChar char="•"/>
            </a:pPr>
            <a:r>
              <a:rPr lang="en-US" sz="1500" b="1" dirty="0">
                <a:solidFill>
                  <a:srgbClr val="34495A"/>
                </a:solidFill>
                <a:latin typeface="Inter" pitchFamily="34" charset="0"/>
                <a:ea typeface="Inter" pitchFamily="34" charset="-122"/>
                <a:cs typeface="Inter" pitchFamily="34" charset="-120"/>
              </a:rPr>
              <a:t>Not saved:</a:t>
            </a:r>
            <a:pPr indent="0" marL="0">
              <a:spcAft>
                <a:spcPts val="400"/>
              </a:spcAft>
              <a:buNone/>
            </a:pPr>
            <a:r>
              <a:rPr lang="en-US" sz="1500" dirty="0">
                <a:solidFill>
                  <a:srgbClr val="34495A"/>
                </a:solidFill>
                <a:latin typeface="Inter" pitchFamily="34" charset="0"/>
                <a:ea typeface="Inter" pitchFamily="34" charset="-122"/>
                <a:cs typeface="Inter" pitchFamily="34" charset="-120"/>
              </a:rPr>
              <a:t> opening Support, any guessed mood.</a:t>
            </a:r>
            <a:endParaRPr lang="en-US" sz="1500" dirty="0"/>
          </a:p>
        </p:txBody>
      </p:sp>
      <p:sp>
        <p:nvSpPr>
          <p:cNvPr id="6" name="Text 3"/>
          <p:cNvSpPr/>
          <p:nvPr/>
        </p:nvSpPr>
        <p:spPr>
          <a:xfrm>
            <a:off x="514350" y="4266946"/>
            <a:ext cx="6286317" cy="787527"/>
          </a:xfrm>
          <a:prstGeom prst="rect">
            <a:avLst/>
          </a:prstGeom>
          <a:noFill/>
          <a:ln/>
        </p:spPr>
        <p:txBody>
          <a:bodyPr wrap="square" lIns="0" tIns="0" rIns="0" bIns="0" rtlCol="0" anchor="t">
            <a:normAutofit/>
          </a:bodyPr>
          <a:lstStyle/>
          <a:p>
            <a:pPr algn="l" indent="0" marL="0">
              <a:buNone/>
            </a:pPr>
            <a:r>
              <a:rPr lang="en-US" sz="1500" b="1" dirty="0">
                <a:solidFill>
                  <a:srgbClr val="34495A"/>
                </a:solidFill>
                <a:latin typeface="Inter" pitchFamily="34" charset="0"/>
                <a:ea typeface="Inter" pitchFamily="34" charset="-122"/>
                <a:cs typeface="Inter" pitchFamily="34" charset="-120"/>
              </a:rPr>
              <a:t>Accessible for every age:</a:t>
            </a:r>
            <a:pPr algn="l" indent="0" marL="0">
              <a:buNone/>
            </a:pPr>
            <a:r>
              <a:rPr lang="en-US" sz="1500" dirty="0">
                <a:solidFill>
                  <a:srgbClr val="34495A"/>
                </a:solidFill>
                <a:latin typeface="Inter" pitchFamily="34" charset="0"/>
                <a:ea typeface="Inter" pitchFamily="34" charset="-122"/>
                <a:cs typeface="Inter" pitchFamily="34" charset="-120"/>
              </a:rPr>
              <a:t> large buttons, high contrast, Enter starts, Escape stops, a motion-free text cue, and it fits a phone screen. No typing is needed to do the skill.</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26112" r="26112" t="0" b="0"/>
          <a:stretch/>
        </p:blipFill>
        <p:spPr>
          <a:xfrm>
            <a:off x="7315017" y="0"/>
            <a:ext cx="4876678" cy="6858000"/>
          </a:xfrm>
          <a:prstGeom prst="rect">
            <a:avLst/>
          </a:prstGeom>
        </p:spPr>
      </p:pic>
      <p:sp>
        <p:nvSpPr>
          <p:cNvPr id="3" name="Text 0"/>
          <p:cNvSpPr/>
          <p:nvPr/>
        </p:nvSpPr>
        <p:spPr>
          <a:xfrm>
            <a:off x="514350" y="514350"/>
            <a:ext cx="6286317" cy="1152652"/>
          </a:xfrm>
          <a:prstGeom prst="rect">
            <a:avLst/>
          </a:prstGeom>
          <a:noFill/>
          <a:ln/>
        </p:spPr>
        <p:txBody>
          <a:bodyPr wrap="square" lIns="0" tIns="0" rIns="0" bIns="0" rtlCol="0" anchor="t">
            <a:normAutofit/>
          </a:bodyPr>
          <a:lstStyle/>
          <a:p>
            <a:pPr algn="l" indent="0" marL="0">
              <a:buNone/>
            </a:pPr>
            <a:r>
              <a:rPr lang="en-US" sz="3400" b="1" dirty="0">
                <a:solidFill>
                  <a:srgbClr val="0B3A57"/>
                </a:solidFill>
                <a:latin typeface="Source Serif 4" pitchFamily="34" charset="0"/>
                <a:ea typeface="Source Serif 4" pitchFamily="34" charset="-122"/>
                <a:cs typeface="Source Serif 4" pitchFamily="34" charset="-120"/>
              </a:rPr>
              <a:t>The chatbot: tailored, honest, limited</a:t>
            </a:r>
            <a:endParaRPr lang="en-US" sz="3400" dirty="0"/>
          </a:p>
        </p:txBody>
      </p:sp>
      <p:sp>
        <p:nvSpPr>
          <p:cNvPr id="4" name="Text 1"/>
          <p:cNvSpPr/>
          <p:nvPr/>
        </p:nvSpPr>
        <p:spPr>
          <a:xfrm>
            <a:off x="514350" y="1776730"/>
            <a:ext cx="6286317" cy="549402"/>
          </a:xfrm>
          <a:prstGeom prst="rect">
            <a:avLst/>
          </a:prstGeom>
          <a:noFill/>
          <a:ln/>
        </p:spPr>
        <p:txBody>
          <a:bodyPr wrap="square" lIns="0" tIns="0" rIns="0" bIns="0" rtlCol="0" anchor="t">
            <a:normAutofit/>
          </a:bodyPr>
          <a:lstStyle/>
          <a:p>
            <a:pPr algn="l" indent="0" marL="0">
              <a:buNone/>
            </a:pPr>
            <a:r>
              <a:rPr lang="en-US" sz="1500" b="1" dirty="0">
                <a:solidFill>
                  <a:srgbClr val="34495A"/>
                </a:solidFill>
                <a:latin typeface="Inter" pitchFamily="34" charset="0"/>
                <a:ea typeface="Inter" pitchFamily="34" charset="-122"/>
                <a:cs typeface="Inter" pitchFamily="34" charset="-120"/>
              </a:rPr>
              <a:t>Tailored by the profile and history.</a:t>
            </a:r>
            <a:pPr algn="l" indent="0" marL="0">
              <a:buNone/>
            </a:pPr>
            <a:r>
              <a:rPr lang="en-US" sz="1500" dirty="0">
                <a:solidFill>
                  <a:srgbClr val="34495A"/>
                </a:solidFill>
                <a:latin typeface="Inter" pitchFamily="34" charset="0"/>
                <a:ea typeface="Inter" pitchFamily="34" charset="-122"/>
                <a:cs typeface="Inter" pitchFamily="34" charset="-120"/>
              </a:rPr>
              <a:t> Live, after Alex checked in as "a bit tense":</a:t>
            </a:r>
            <a:endParaRPr lang="en-US" sz="1500" dirty="0"/>
          </a:p>
        </p:txBody>
      </p:sp>
      <p:sp>
        <p:nvSpPr>
          <p:cNvPr id="5" name="Text 2"/>
          <p:cNvSpPr/>
          <p:nvPr/>
        </p:nvSpPr>
        <p:spPr>
          <a:xfrm>
            <a:off x="697230" y="2435860"/>
            <a:ext cx="6103437" cy="882777"/>
          </a:xfrm>
          <a:prstGeom prst="rect">
            <a:avLst/>
          </a:prstGeom>
          <a:noFill/>
          <a:ln/>
        </p:spPr>
        <p:txBody>
          <a:bodyPr wrap="square" lIns="0" tIns="0" rIns="0" bIns="0" rtlCol="0" anchor="t">
            <a:normAutofit/>
          </a:bodyPr>
          <a:lstStyle/>
          <a:p>
            <a:pPr algn="l" indent="0" marL="0">
              <a:buNone/>
            </a:pPr>
            <a:r>
              <a:rPr lang="en-US" sz="1700" i="1" dirty="0">
                <a:solidFill>
                  <a:srgbClr val="34495A"/>
                </a:solidFill>
                <a:latin typeface="Inter" pitchFamily="34" charset="0"/>
                <a:ea typeface="Inter" pitchFamily="34" charset="-122"/>
                <a:cs typeface="Inter" pitchFamily="34" charset="-120"/>
              </a:rPr>
              <a:t>"You said you're a bit tense. Your usual six breaths with the circle are ready when you are, breathing in for 4 and out for 6."</a:t>
            </a:r>
            <a:endParaRPr lang="en-US" sz="1700" dirty="0"/>
          </a:p>
        </p:txBody>
      </p:sp>
      <p:sp>
        <p:nvSpPr>
          <p:cNvPr id="6" name="Shape 3"/>
          <p:cNvSpPr/>
          <p:nvPr/>
        </p:nvSpPr>
        <p:spPr>
          <a:xfrm>
            <a:off x="514350" y="2435860"/>
            <a:ext cx="54864" cy="882777"/>
          </a:xfrm>
          <a:prstGeom prst="rect">
            <a:avLst/>
          </a:prstGeom>
          <a:solidFill>
            <a:srgbClr val="0E7CAD"/>
          </a:solidFill>
          <a:ln w="12700">
            <a:solidFill>
              <a:srgbClr val="0E7CAD"/>
            </a:solidFill>
            <a:prstDash val="solid"/>
          </a:ln>
        </p:spPr>
      </p:sp>
      <p:sp>
        <p:nvSpPr>
          <p:cNvPr id="7" name="Text 4"/>
          <p:cNvSpPr/>
          <p:nvPr/>
        </p:nvSpPr>
        <p:spPr>
          <a:xfrm>
            <a:off x="514350" y="3428365"/>
            <a:ext cx="6286317" cy="549402"/>
          </a:xfrm>
          <a:prstGeom prst="rect">
            <a:avLst/>
          </a:prstGeom>
          <a:noFill/>
          <a:ln/>
        </p:spPr>
        <p:txBody>
          <a:bodyPr wrap="square" lIns="0" tIns="0" rIns="0" bIns="0" rtlCol="0" anchor="t">
            <a:normAutofit/>
          </a:bodyPr>
          <a:lstStyle/>
          <a:p>
            <a:pPr algn="l" indent="0" marL="0">
              <a:buNone/>
            </a:pPr>
            <a:r>
              <a:rPr lang="en-US" sz="1500" dirty="0">
                <a:solidFill>
                  <a:srgbClr val="34495A"/>
                </a:solidFill>
                <a:latin typeface="Inter" pitchFamily="34" charset="0"/>
                <a:ea typeface="Inter" pitchFamily="34" charset="-122"/>
                <a:cs typeface="Inter" pitchFamily="34" charset="-120"/>
              </a:rPr>
              <a:t>Asked about history, it answers only from Alex's own saved rows: </a:t>
            </a:r>
            <a:pPr algn="l" indent="0" marL="0">
              <a:buNone/>
            </a:pPr>
            <a:r>
              <a:rPr lang="en-US" sz="1500" i="1" dirty="0">
                <a:solidFill>
                  <a:srgbClr val="34495A"/>
                </a:solidFill>
                <a:latin typeface="Inter" pitchFamily="34" charset="0"/>
                <a:ea typeface="Inter" pitchFamily="34" charset="-122"/>
                <a:cs typeface="Inter" pitchFamily="34" charset="-120"/>
              </a:rPr>
              <a:t>"You've done 2 sessions. Your usual breaths setting is 6."</a:t>
            </a:r>
            <a:endParaRPr lang="en-US" sz="1500" dirty="0"/>
          </a:p>
        </p:txBody>
      </p:sp>
      <p:sp>
        <p:nvSpPr>
          <p:cNvPr id="8" name="Text 5"/>
          <p:cNvSpPr/>
          <p:nvPr/>
        </p:nvSpPr>
        <p:spPr>
          <a:xfrm>
            <a:off x="514350" y="4087495"/>
            <a:ext cx="6286317" cy="1263777"/>
          </a:xfrm>
          <a:prstGeom prst="rect">
            <a:avLst/>
          </a:prstGeom>
          <a:noFill/>
          <a:ln/>
        </p:spPr>
        <p:txBody>
          <a:bodyPr wrap="square" lIns="0" tIns="0" rIns="0" bIns="0" rtlCol="0" anchor="t">
            <a:normAutofit/>
          </a:bodyPr>
          <a:lstStyle/>
          <a:p>
            <a:pPr algn="l" indent="0" marL="0">
              <a:buNone/>
            </a:pPr>
            <a:r>
              <a:rPr lang="en-US" sz="1500" b="1" dirty="0">
                <a:solidFill>
                  <a:srgbClr val="34495A"/>
                </a:solidFill>
                <a:latin typeface="Inter" pitchFamily="34" charset="0"/>
                <a:ea typeface="Inter" pitchFamily="34" charset="-122"/>
                <a:cs typeface="Inter" pitchFamily="34" charset="-120"/>
              </a:rPr>
              <a:t>Limits:</a:t>
            </a:r>
            <a:pPr algn="l" indent="0" marL="0">
              <a:buNone/>
            </a:pPr>
            <a:r>
              <a:rPr lang="en-US" sz="1500" dirty="0">
                <a:solidFill>
                  <a:srgbClr val="34495A"/>
                </a:solidFill>
                <a:latin typeface="Inter" pitchFamily="34" charset="0"/>
                <a:ea typeface="Inter" pitchFamily="34" charset="-122"/>
                <a:cs typeface="Inter" pitchFamily="34" charset="-120"/>
              </a:rPr>
              <a:t> it never runs the exercise, never diagnoses or promises a feeling will change, no praise or clinical words. Asked "Did breathing fix my anxiety?", it said the sessions can't answer that. A rule-breaking reply is replaced with fixed text. The app always says it's a class project.</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27778" r="27778" t="0" b="0"/>
          <a:stretch/>
        </p:blipFill>
        <p:spPr>
          <a:xfrm>
            <a:off x="7315017" y="0"/>
            <a:ext cx="4876678" cy="6858000"/>
          </a:xfrm>
          <a:prstGeom prst="rect">
            <a:avLst/>
          </a:prstGeom>
        </p:spPr>
      </p:pic>
      <p:sp>
        <p:nvSpPr>
          <p:cNvPr id="3" name="Text 0"/>
          <p:cNvSpPr/>
          <p:nvPr/>
        </p:nvSpPr>
        <p:spPr>
          <a:xfrm>
            <a:off x="514350" y="514350"/>
            <a:ext cx="6286317" cy="612902"/>
          </a:xfrm>
          <a:prstGeom prst="rect">
            <a:avLst/>
          </a:prstGeom>
          <a:noFill/>
          <a:ln/>
        </p:spPr>
        <p:txBody>
          <a:bodyPr wrap="square" lIns="0" tIns="0" rIns="0" bIns="0" rtlCol="0" anchor="t">
            <a:normAutofit/>
          </a:bodyPr>
          <a:lstStyle/>
          <a:p>
            <a:pPr algn="l" indent="0" marL="0">
              <a:buNone/>
            </a:pPr>
            <a:r>
              <a:rPr lang="en-US" sz="3400" b="1" dirty="0">
                <a:solidFill>
                  <a:srgbClr val="0B3A57"/>
                </a:solidFill>
                <a:latin typeface="Source Serif 4" pitchFamily="34" charset="0"/>
                <a:ea typeface="Source Serif 4" pitchFamily="34" charset="-122"/>
                <a:cs typeface="Source Serif 4" pitchFamily="34" charset="-120"/>
              </a:rPr>
              <a:t>When something goes wrong</a:t>
            </a:r>
            <a:endParaRPr lang="en-US" sz="3400" dirty="0"/>
          </a:p>
        </p:txBody>
      </p:sp>
      <p:sp>
        <p:nvSpPr>
          <p:cNvPr id="4" name="Shape 1"/>
          <p:cNvSpPr/>
          <p:nvPr/>
        </p:nvSpPr>
        <p:spPr>
          <a:xfrm>
            <a:off x="514350" y="1236980"/>
            <a:ext cx="1961327" cy="2389632"/>
          </a:xfrm>
          <a:prstGeom prst="roundRect">
            <a:avLst>
              <a:gd name="adj" fmla="val 3730"/>
            </a:avLst>
          </a:prstGeom>
          <a:solidFill>
            <a:srgbClr val="E9F4F9"/>
          </a:solidFill>
          <a:ln w="9525">
            <a:solidFill>
              <a:srgbClr val="E9F4F9">
                <a:alpha val="0"/>
              </a:srgbClr>
            </a:solidFill>
            <a:prstDash val="solid"/>
          </a:ln>
        </p:spPr>
      </p:sp>
      <p:sp>
        <p:nvSpPr>
          <p:cNvPr id="5" name="Text 2"/>
          <p:cNvSpPr/>
          <p:nvPr/>
        </p:nvSpPr>
        <p:spPr>
          <a:xfrm>
            <a:off x="660654" y="1383284"/>
            <a:ext cx="1668719" cy="327152"/>
          </a:xfrm>
          <a:prstGeom prst="rect">
            <a:avLst/>
          </a:prstGeom>
          <a:noFill/>
          <a:ln/>
        </p:spPr>
        <p:txBody>
          <a:bodyPr wrap="square" lIns="0" tIns="0" rIns="0" bIns="0" rtlCol="0" anchor="t">
            <a:normAutofit/>
          </a:bodyPr>
          <a:lstStyle/>
          <a:p>
            <a:pPr indent="0" marL="0">
              <a:buNone/>
            </a:pPr>
            <a:r>
              <a:rPr lang="en-US" sz="1600" b="1" dirty="0">
                <a:solidFill>
                  <a:srgbClr val="0B3A57"/>
                </a:solidFill>
                <a:latin typeface="Source Serif 4" pitchFamily="34" charset="0"/>
                <a:ea typeface="Source Serif 4" pitchFamily="34" charset="-122"/>
                <a:cs typeface="Source Serif 4" pitchFamily="34" charset="-120"/>
              </a:rPr>
              <a:t>Crisis wording</a:t>
            </a:r>
            <a:endParaRPr lang="en-US" sz="1600" dirty="0"/>
          </a:p>
        </p:txBody>
      </p:sp>
      <p:sp>
        <p:nvSpPr>
          <p:cNvPr id="6" name="Text 3"/>
          <p:cNvSpPr/>
          <p:nvPr/>
        </p:nvSpPr>
        <p:spPr>
          <a:xfrm>
            <a:off x="660654" y="1710436"/>
            <a:ext cx="1668719" cy="1724152"/>
          </a:xfrm>
          <a:prstGeom prst="rect">
            <a:avLst/>
          </a:prstGeom>
          <a:noFill/>
          <a:ln/>
        </p:spPr>
        <p:txBody>
          <a:bodyPr wrap="square" lIns="0" tIns="0" rIns="0" bIns="0" rtlCol="0" anchor="t">
            <a:normAutofit/>
          </a:bodyPr>
          <a:lstStyle/>
          <a:p>
            <a:pPr indent="0" marL="0">
              <a:buNone/>
            </a:pPr>
            <a:r>
              <a:rPr lang="en-US" sz="1300" dirty="0">
                <a:solidFill>
                  <a:srgbClr val="34495A"/>
                </a:solidFill>
                <a:latin typeface="Inter" pitchFamily="34" charset="0"/>
                <a:ea typeface="Inter" pitchFamily="34" charset="-122"/>
                <a:cs typeface="Inter" pitchFamily="34" charset="-120"/>
              </a:rPr>
              <a:t>Never reaches the model. The app opens Support with the numbers. A word list can miss things, which is why Support is on every screen anyway.</a:t>
            </a:r>
            <a:endParaRPr lang="en-US" sz="1300" dirty="0"/>
          </a:p>
        </p:txBody>
      </p:sp>
      <p:sp>
        <p:nvSpPr>
          <p:cNvPr id="7" name="Shape 4"/>
          <p:cNvSpPr/>
          <p:nvPr/>
        </p:nvSpPr>
        <p:spPr>
          <a:xfrm>
            <a:off x="2676845" y="1236980"/>
            <a:ext cx="1961327" cy="2802382"/>
          </a:xfrm>
          <a:prstGeom prst="roundRect">
            <a:avLst>
              <a:gd name="adj" fmla="val 3730"/>
            </a:avLst>
          </a:prstGeom>
          <a:solidFill>
            <a:srgbClr val="E9F4F9"/>
          </a:solidFill>
          <a:ln w="9525">
            <a:solidFill>
              <a:srgbClr val="E9F4F9">
                <a:alpha val="0"/>
              </a:srgbClr>
            </a:solidFill>
            <a:prstDash val="solid"/>
          </a:ln>
        </p:spPr>
      </p:sp>
      <p:sp>
        <p:nvSpPr>
          <p:cNvPr id="8" name="Text 5"/>
          <p:cNvSpPr/>
          <p:nvPr/>
        </p:nvSpPr>
        <p:spPr>
          <a:xfrm>
            <a:off x="2823149" y="1383284"/>
            <a:ext cx="1668719" cy="327152"/>
          </a:xfrm>
          <a:prstGeom prst="rect">
            <a:avLst/>
          </a:prstGeom>
          <a:noFill/>
          <a:ln/>
        </p:spPr>
        <p:txBody>
          <a:bodyPr wrap="square" lIns="0" tIns="0" rIns="0" bIns="0" rtlCol="0" anchor="t">
            <a:normAutofit/>
          </a:bodyPr>
          <a:lstStyle/>
          <a:p>
            <a:pPr indent="0" marL="0">
              <a:buNone/>
            </a:pPr>
            <a:r>
              <a:rPr lang="en-US" sz="1600" b="1" dirty="0">
                <a:solidFill>
                  <a:srgbClr val="0B3A57"/>
                </a:solidFill>
                <a:latin typeface="Source Serif 4" pitchFamily="34" charset="0"/>
                <a:ea typeface="Source Serif 4" pitchFamily="34" charset="-122"/>
                <a:cs typeface="Source Serif 4" pitchFamily="34" charset="-120"/>
              </a:rPr>
              <a:t>AI is down</a:t>
            </a:r>
            <a:endParaRPr lang="en-US" sz="1600" dirty="0"/>
          </a:p>
        </p:txBody>
      </p:sp>
      <p:sp>
        <p:nvSpPr>
          <p:cNvPr id="9" name="Text 6"/>
          <p:cNvSpPr/>
          <p:nvPr/>
        </p:nvSpPr>
        <p:spPr>
          <a:xfrm>
            <a:off x="2823149" y="1710436"/>
            <a:ext cx="1668719" cy="2136902"/>
          </a:xfrm>
          <a:prstGeom prst="rect">
            <a:avLst/>
          </a:prstGeom>
          <a:noFill/>
          <a:ln/>
        </p:spPr>
        <p:txBody>
          <a:bodyPr wrap="square" lIns="0" tIns="0" rIns="0" bIns="0" rtlCol="0" anchor="t">
            <a:normAutofit/>
          </a:bodyPr>
          <a:lstStyle/>
          <a:p>
            <a:pPr indent="0" marL="0">
              <a:buNone/>
            </a:pPr>
            <a:r>
              <a:rPr lang="en-US" sz="1300" dirty="0">
                <a:solidFill>
                  <a:srgbClr val="34495A"/>
                </a:solidFill>
                <a:latin typeface="Inter" pitchFamily="34" charset="0"/>
                <a:ea typeface="Inter" pitchFamily="34" charset="-122"/>
                <a:cs typeface="Inter" pitchFamily="34" charset="-120"/>
              </a:rPr>
              <a:t>Gemini timed out this morning. The app showed fixed text, said the question could not be answered, and Start and Support kept working. Now it also falls back to another model automatically.</a:t>
            </a:r>
            <a:endParaRPr lang="en-US" sz="1300" dirty="0"/>
          </a:p>
        </p:txBody>
      </p:sp>
      <p:sp>
        <p:nvSpPr>
          <p:cNvPr id="10" name="Shape 7"/>
          <p:cNvSpPr/>
          <p:nvPr/>
        </p:nvSpPr>
        <p:spPr>
          <a:xfrm>
            <a:off x="4839340" y="1236980"/>
            <a:ext cx="1961327" cy="1770507"/>
          </a:xfrm>
          <a:prstGeom prst="roundRect">
            <a:avLst>
              <a:gd name="adj" fmla="val 4132"/>
            </a:avLst>
          </a:prstGeom>
          <a:solidFill>
            <a:srgbClr val="E9F4F9"/>
          </a:solidFill>
          <a:ln w="9525">
            <a:solidFill>
              <a:srgbClr val="E9F4F9">
                <a:alpha val="0"/>
              </a:srgbClr>
            </a:solidFill>
            <a:prstDash val="solid"/>
          </a:ln>
        </p:spPr>
      </p:sp>
      <p:sp>
        <p:nvSpPr>
          <p:cNvPr id="11" name="Text 8"/>
          <p:cNvSpPr/>
          <p:nvPr/>
        </p:nvSpPr>
        <p:spPr>
          <a:xfrm>
            <a:off x="4985644" y="1383284"/>
            <a:ext cx="1668719" cy="327152"/>
          </a:xfrm>
          <a:prstGeom prst="rect">
            <a:avLst/>
          </a:prstGeom>
          <a:noFill/>
          <a:ln/>
        </p:spPr>
        <p:txBody>
          <a:bodyPr wrap="square" lIns="0" tIns="0" rIns="0" bIns="0" rtlCol="0" anchor="t">
            <a:normAutofit/>
          </a:bodyPr>
          <a:lstStyle/>
          <a:p>
            <a:pPr indent="0" marL="0">
              <a:buNone/>
            </a:pPr>
            <a:r>
              <a:rPr lang="en-US" sz="1600" b="1" dirty="0">
                <a:solidFill>
                  <a:srgbClr val="0B3A57"/>
                </a:solidFill>
                <a:latin typeface="Source Serif 4" pitchFamily="34" charset="0"/>
                <a:ea typeface="Source Serif 4" pitchFamily="34" charset="-122"/>
                <a:cs typeface="Source Serif 4" pitchFamily="34" charset="-120"/>
              </a:rPr>
              <a:t>Backend is down</a:t>
            </a:r>
            <a:endParaRPr lang="en-US" sz="1600" dirty="0"/>
          </a:p>
        </p:txBody>
      </p:sp>
      <p:sp>
        <p:nvSpPr>
          <p:cNvPr id="12" name="Text 9"/>
          <p:cNvSpPr/>
          <p:nvPr/>
        </p:nvSpPr>
        <p:spPr>
          <a:xfrm>
            <a:off x="4985644" y="1710436"/>
            <a:ext cx="1668719" cy="1105027"/>
          </a:xfrm>
          <a:prstGeom prst="rect">
            <a:avLst/>
          </a:prstGeom>
          <a:noFill/>
          <a:ln/>
        </p:spPr>
        <p:txBody>
          <a:bodyPr wrap="square" lIns="0" tIns="0" rIns="0" bIns="0" rtlCol="0" anchor="t">
            <a:normAutofit/>
          </a:bodyPr>
          <a:lstStyle/>
          <a:p>
            <a:pPr indent="0" marL="0">
              <a:buNone/>
            </a:pPr>
            <a:r>
              <a:rPr lang="en-US" sz="1300" dirty="0">
                <a:solidFill>
                  <a:srgbClr val="34495A"/>
                </a:solidFill>
                <a:latin typeface="Inter" pitchFamily="34" charset="0"/>
                <a:ea typeface="Inter" pitchFamily="34" charset="-122"/>
                <a:cs typeface="Inter" pitchFamily="34" charset="-120"/>
              </a:rPr>
              <a:t>The exercise still runs, and the app says honestly that the session was not saved.</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14350" y="514350"/>
            <a:ext cx="11162995" cy="612902"/>
          </a:xfrm>
          <a:prstGeom prst="rect">
            <a:avLst/>
          </a:prstGeom>
          <a:noFill/>
          <a:ln/>
        </p:spPr>
        <p:txBody>
          <a:bodyPr wrap="square" lIns="0" tIns="0" rIns="0" bIns="0" rtlCol="0" anchor="t">
            <a:normAutofit/>
          </a:bodyPr>
          <a:lstStyle/>
          <a:p>
            <a:pPr algn="l" indent="0" marL="0">
              <a:buNone/>
            </a:pPr>
            <a:r>
              <a:rPr lang="en-US" sz="3400" b="1" dirty="0">
                <a:solidFill>
                  <a:srgbClr val="0B3A57"/>
                </a:solidFill>
                <a:latin typeface="Source Serif 4" pitchFamily="34" charset="0"/>
                <a:ea typeface="Source Serif 4" pitchFamily="34" charset="-122"/>
                <a:cs typeface="Source Serif 4" pitchFamily="34" charset="-120"/>
              </a:rPr>
              <a:t>What's real, and what's next</a:t>
            </a:r>
            <a:endParaRPr lang="en-US" sz="3400" dirty="0"/>
          </a:p>
        </p:txBody>
      </p:sp>
      <p:sp>
        <p:nvSpPr>
          <p:cNvPr id="3" name="Text 1"/>
          <p:cNvSpPr/>
          <p:nvPr/>
        </p:nvSpPr>
        <p:spPr>
          <a:xfrm>
            <a:off x="514350" y="1236980"/>
            <a:ext cx="5444338" cy="390652"/>
          </a:xfrm>
          <a:prstGeom prst="rect">
            <a:avLst/>
          </a:prstGeom>
          <a:noFill/>
          <a:ln/>
        </p:spPr>
        <p:txBody>
          <a:bodyPr wrap="square" lIns="0" tIns="0" rIns="0" bIns="0" rtlCol="0" anchor="t">
            <a:normAutofit/>
          </a:bodyPr>
          <a:lstStyle/>
          <a:p>
            <a:pPr algn="l" indent="0" marL="0">
              <a:buNone/>
            </a:pPr>
            <a:r>
              <a:rPr lang="en-US" sz="2000" b="1" dirty="0">
                <a:solidFill>
                  <a:srgbClr val="0B3A57"/>
                </a:solidFill>
                <a:latin typeface="Source Serif 4" pitchFamily="34" charset="0"/>
                <a:ea typeface="Source Serif 4" pitchFamily="34" charset="-122"/>
                <a:cs typeface="Source Serif 4" pitchFamily="34" charset="-120"/>
              </a:rPr>
              <a:t>Real and working</a:t>
            </a:r>
            <a:endParaRPr lang="en-US" sz="2000" dirty="0"/>
          </a:p>
        </p:txBody>
      </p:sp>
      <p:sp>
        <p:nvSpPr>
          <p:cNvPr id="4" name="Text 2"/>
          <p:cNvSpPr/>
          <p:nvPr/>
        </p:nvSpPr>
        <p:spPr>
          <a:xfrm>
            <a:off x="514350" y="1737360"/>
            <a:ext cx="5444338" cy="1299972"/>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34495A"/>
                </a:solidFill>
                <a:latin typeface="Inter" pitchFamily="34" charset="0"/>
                <a:ea typeface="Inter" pitchFamily="34" charset="-122"/>
                <a:cs typeface="Inter" pitchFamily="34" charset="-120"/>
              </a:rPr>
              <a:t>The exercise, Stop and Support</a:t>
            </a:r>
            <a:endParaRPr lang="en-US" sz="1500" dirty="0"/>
          </a:p>
          <a:p>
            <a:pPr marL="342900" indent="-342900">
              <a:spcAft>
                <a:spcPts val="400"/>
              </a:spcAft>
              <a:buSzPct val="100000"/>
              <a:buChar char="•"/>
            </a:pPr>
            <a:r>
              <a:rPr lang="en-US" sz="1500" dirty="0">
                <a:solidFill>
                  <a:srgbClr val="34495A"/>
                </a:solidFill>
                <a:latin typeface="Inter" pitchFamily="34" charset="0"/>
                <a:ea typeface="Inter" pitchFamily="34" charset="-122"/>
                <a:cs typeface="Inter" pitchFamily="34" charset="-120"/>
              </a:rPr>
              <a:t>Saved sessions and history (SQLite)</a:t>
            </a:r>
            <a:endParaRPr lang="en-US" sz="1500" dirty="0"/>
          </a:p>
          <a:p>
            <a:pPr marL="342900" indent="-342900">
              <a:spcAft>
                <a:spcPts val="400"/>
              </a:spcAft>
              <a:buSzPct val="100000"/>
              <a:buChar char="•"/>
            </a:pPr>
            <a:r>
              <a:rPr lang="en-US" sz="1500" dirty="0">
                <a:solidFill>
                  <a:srgbClr val="34495A"/>
                </a:solidFill>
                <a:latin typeface="Inter" pitchFamily="34" charset="0"/>
                <a:ea typeface="Inter" pitchFamily="34" charset="-122"/>
                <a:cs typeface="Inter" pitchFamily="34" charset="-120"/>
              </a:rPr>
              <a:t>AI introduction and questions (Gemini)</a:t>
            </a:r>
            <a:endParaRPr lang="en-US" sz="1500" dirty="0"/>
          </a:p>
          <a:p>
            <a:pPr marL="342900" indent="-342900">
              <a:spcAft>
                <a:spcPts val="400"/>
              </a:spcAft>
              <a:buSzPct val="100000"/>
              <a:buChar char="•"/>
            </a:pPr>
            <a:r>
              <a:rPr lang="en-US" sz="1500" dirty="0">
                <a:solidFill>
                  <a:srgbClr val="34495A"/>
                </a:solidFill>
                <a:latin typeface="Inter" pitchFamily="34" charset="0"/>
                <a:ea typeface="Inter" pitchFamily="34" charset="-122"/>
                <a:cs typeface="Inter" pitchFamily="34" charset="-120"/>
              </a:rPr>
              <a:t>Check-in, usual and profile from history</a:t>
            </a:r>
            <a:endParaRPr lang="en-US" sz="1500" dirty="0"/>
          </a:p>
          <a:p>
            <a:pPr marL="342900" indent="-342900">
              <a:spcAft>
                <a:spcPts val="400"/>
              </a:spcAft>
              <a:buSzPct val="100000"/>
              <a:buChar char="•"/>
            </a:pPr>
            <a:r>
              <a:rPr lang="en-US" sz="1500" dirty="0">
                <a:solidFill>
                  <a:srgbClr val="34495A"/>
                </a:solidFill>
                <a:latin typeface="Inter" pitchFamily="34" charset="0"/>
                <a:ea typeface="Inter" pitchFamily="34" charset="-122"/>
                <a:cs typeface="Inter" pitchFamily="34" charset="-120"/>
              </a:rPr>
              <a:t>33 backend checks and 13 browser checks pass</a:t>
            </a:r>
            <a:endParaRPr lang="en-US" sz="1500" dirty="0"/>
          </a:p>
        </p:txBody>
      </p:sp>
      <p:sp>
        <p:nvSpPr>
          <p:cNvPr id="5" name="Text 3"/>
          <p:cNvSpPr/>
          <p:nvPr/>
        </p:nvSpPr>
        <p:spPr>
          <a:xfrm>
            <a:off x="6233008" y="1236980"/>
            <a:ext cx="5444338" cy="390652"/>
          </a:xfrm>
          <a:prstGeom prst="rect">
            <a:avLst/>
          </a:prstGeom>
          <a:noFill/>
          <a:ln/>
        </p:spPr>
        <p:txBody>
          <a:bodyPr wrap="square" lIns="0" tIns="0" rIns="0" bIns="0" rtlCol="0" anchor="t">
            <a:normAutofit/>
          </a:bodyPr>
          <a:lstStyle/>
          <a:p>
            <a:pPr algn="l" indent="0" marL="0">
              <a:buNone/>
            </a:pPr>
            <a:r>
              <a:rPr lang="en-US" sz="2000" b="1" dirty="0">
                <a:solidFill>
                  <a:srgbClr val="0B3A57"/>
                </a:solidFill>
                <a:latin typeface="Source Serif 4" pitchFamily="34" charset="0"/>
                <a:ea typeface="Source Serif 4" pitchFamily="34" charset="-122"/>
                <a:cs typeface="Source Serif 4" pitchFamily="34" charset="-120"/>
              </a:rPr>
              <a:t>Test-only and next</a:t>
            </a:r>
            <a:endParaRPr lang="en-US" sz="2000" dirty="0"/>
          </a:p>
        </p:txBody>
      </p:sp>
      <p:sp>
        <p:nvSpPr>
          <p:cNvPr id="6" name="Text 4"/>
          <p:cNvSpPr/>
          <p:nvPr/>
        </p:nvSpPr>
        <p:spPr>
          <a:xfrm>
            <a:off x="6233008" y="1737360"/>
            <a:ext cx="5444338" cy="952119"/>
          </a:xfrm>
          <a:prstGeom prst="rect">
            <a:avLst/>
          </a:prstGeom>
          <a:noFill/>
          <a:ln/>
        </p:spPr>
        <p:txBody>
          <a:bodyPr wrap="square" lIns="0" tIns="0" rIns="0" bIns="0" rtlCol="0" anchor="t">
            <a:normAutofit/>
          </a:bodyPr>
          <a:lstStyle/>
          <a:p>
            <a:pPr marL="342900" indent="-342900">
              <a:spcAft>
                <a:spcPts val="400"/>
              </a:spcAft>
              <a:buSzPct val="100000"/>
              <a:buChar char="•"/>
            </a:pPr>
            <a:r>
              <a:rPr lang="en-US" sz="1500" dirty="0">
                <a:solidFill>
                  <a:srgbClr val="34495A"/>
                </a:solidFill>
                <a:latin typeface="Inter" pitchFamily="34" charset="0"/>
                <a:ea typeface="Inter" pitchFamily="34" charset="-122"/>
                <a:cs typeface="Inter" pitchFamily="34" charset="-120"/>
              </a:rPr>
              <a:t>Mock and Fail modes, for testing failures</a:t>
            </a:r>
            <a:endParaRPr lang="en-US" sz="1500" dirty="0"/>
          </a:p>
          <a:p>
            <a:pPr marL="342900" indent="-342900">
              <a:spcAft>
                <a:spcPts val="400"/>
              </a:spcAft>
              <a:buSzPct val="100000"/>
              <a:buChar char="•"/>
            </a:pPr>
            <a:r>
              <a:rPr lang="en-US" sz="1500" dirty="0">
                <a:solidFill>
                  <a:srgbClr val="34495A"/>
                </a:solidFill>
                <a:latin typeface="Inter" pitchFamily="34" charset="0"/>
                <a:ea typeface="Inter" pitchFamily="34" charset="-122"/>
                <a:cs typeface="Inter" pitchFamily="34" charset="-120"/>
              </a:rPr>
              <a:t>Part 3.3: fifteen fictional scenarios and three behavior checks</a:t>
            </a:r>
            <a:endParaRPr lang="en-US" sz="1500" dirty="0"/>
          </a:p>
          <a:p>
            <a:pPr marL="342900" indent="-342900">
              <a:spcAft>
                <a:spcPts val="400"/>
              </a:spcAft>
              <a:buSzPct val="100000"/>
              <a:buChar char="•"/>
            </a:pPr>
            <a:r>
              <a:rPr lang="en-US" sz="1500" dirty="0">
                <a:solidFill>
                  <a:srgbClr val="34495A"/>
                </a:solidFill>
                <a:latin typeface="Inter" pitchFamily="34" charset="0"/>
                <a:ea typeface="Inter" pitchFamily="34" charset="-122"/>
                <a:cs typeface="Inter" pitchFamily="34" charset="-120"/>
              </a:rPr>
              <a:t>More personalization from history</a:t>
            </a:r>
            <a:endParaRPr lang="en-US" sz="1500" dirty="0"/>
          </a:p>
        </p:txBody>
      </p:sp>
      <p:sp>
        <p:nvSpPr>
          <p:cNvPr id="7" name="Text 5"/>
          <p:cNvSpPr/>
          <p:nvPr/>
        </p:nvSpPr>
        <p:spPr>
          <a:xfrm>
            <a:off x="514350" y="3256788"/>
            <a:ext cx="11162995" cy="485902"/>
          </a:xfrm>
          <a:prstGeom prst="rect">
            <a:avLst/>
          </a:prstGeom>
          <a:noFill/>
          <a:ln/>
        </p:spPr>
        <p:txBody>
          <a:bodyPr wrap="square" lIns="0" tIns="0" rIns="0" bIns="0" rtlCol="0" anchor="t">
            <a:normAutofit/>
          </a:bodyPr>
          <a:lstStyle/>
          <a:p>
            <a:pPr algn="l" indent="0" marL="0">
              <a:buNone/>
            </a:pPr>
            <a:r>
              <a:rPr lang="en-US" sz="2600" b="1" dirty="0">
                <a:solidFill>
                  <a:srgbClr val="0B3A57"/>
                </a:solidFill>
                <a:latin typeface="Source Serif 4" pitchFamily="34" charset="0"/>
                <a:ea typeface="Source Serif 4" pitchFamily="34" charset="-122"/>
                <a:cs typeface="Source Serif 4" pitchFamily="34" charset="-120"/>
              </a:rPr>
              <a:t>Thank you. Questions?</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Tessera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Breathe 60: Assignment 3 presentation</dc:title>
  <dc:subject>PptxGenJS Presentation</dc:subject>
  <dc:creator>PptxGenJS</dc:creator>
  <cp:lastModifiedBy>PptxGenJS</cp:lastModifiedBy>
  <cp:revision>1</cp:revision>
  <dcterms:created xsi:type="dcterms:W3CDTF">2026-10-27T15:31:21Z</dcterms:created>
  <dcterms:modified xsi:type="dcterms:W3CDTF">2026-10-27T15:31:21Z</dcterms:modified>
</cp:coreProperties>
</file>